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20"/>
  </p:notesMasterIdLst>
  <p:sldIdLst>
    <p:sldId id="292" r:id="rId2"/>
    <p:sldId id="294" r:id="rId3"/>
    <p:sldId id="283" r:id="rId4"/>
    <p:sldId id="285" r:id="rId5"/>
    <p:sldId id="301" r:id="rId6"/>
    <p:sldId id="261" r:id="rId7"/>
    <p:sldId id="308" r:id="rId8"/>
    <p:sldId id="309" r:id="rId9"/>
    <p:sldId id="310" r:id="rId10"/>
    <p:sldId id="286" r:id="rId11"/>
    <p:sldId id="287" r:id="rId12"/>
    <p:sldId id="311" r:id="rId13"/>
    <p:sldId id="289" r:id="rId14"/>
    <p:sldId id="312" r:id="rId15"/>
    <p:sldId id="288" r:id="rId16"/>
    <p:sldId id="306" r:id="rId17"/>
    <p:sldId id="290" r:id="rId18"/>
    <p:sldId id="313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960" autoAdjust="0"/>
  </p:normalViewPr>
  <p:slideViewPr>
    <p:cSldViewPr>
      <p:cViewPr varScale="1">
        <p:scale>
          <a:sx n="54" d="100"/>
          <a:sy n="54" d="100"/>
        </p:scale>
        <p:origin x="15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https://octave-online.net/" TargetMode="External"/><Relationship Id="rId1" Type="http://schemas.openxmlformats.org/officeDocument/2006/relationships/hyperlink" Target="https://www.gnu.org/software/octave/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octave-online.net/" TargetMode="External"/><Relationship Id="rId1" Type="http://schemas.openxmlformats.org/officeDocument/2006/relationships/hyperlink" Target="https://www.gnu.org/software/octave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81A685-7FF3-44CA-8600-6FAE8CEDFB3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58941B6-2DD0-45B1-8E75-F8F91673459C}">
      <dgm:prSet/>
      <dgm:spPr/>
      <dgm:t>
        <a:bodyPr/>
        <a:lstStyle/>
        <a:p>
          <a:r>
            <a:rPr lang="en-US" dirty="0"/>
            <a:t>Octave </a:t>
          </a:r>
          <a:r>
            <a:rPr lang="en-US" dirty="0">
              <a:hlinkClick xmlns:r="http://schemas.openxmlformats.org/officeDocument/2006/relationships" r:id="rId1"/>
            </a:rPr>
            <a:t>https://www.gnu.org/software/octave/</a:t>
          </a:r>
          <a:endParaRPr lang="en-US" dirty="0"/>
        </a:p>
      </dgm:t>
    </dgm:pt>
    <dgm:pt modelId="{C3C62090-88A1-45E5-A0EA-3240AA9A1E5B}" type="parTrans" cxnId="{D544F5FC-3D90-4A6D-8759-F42EA36EB0E5}">
      <dgm:prSet/>
      <dgm:spPr/>
      <dgm:t>
        <a:bodyPr/>
        <a:lstStyle/>
        <a:p>
          <a:endParaRPr lang="en-US"/>
        </a:p>
      </dgm:t>
    </dgm:pt>
    <dgm:pt modelId="{31D7BF46-5E00-4E9D-834F-6C7FDCEA5B8D}" type="sibTrans" cxnId="{D544F5FC-3D90-4A6D-8759-F42EA36EB0E5}">
      <dgm:prSet/>
      <dgm:spPr/>
      <dgm:t>
        <a:bodyPr/>
        <a:lstStyle/>
        <a:p>
          <a:endParaRPr lang="en-US"/>
        </a:p>
      </dgm:t>
    </dgm:pt>
    <dgm:pt modelId="{B3FF8494-63C5-4B8E-A7FA-916F92BB08EF}">
      <dgm:prSet/>
      <dgm:spPr/>
      <dgm:t>
        <a:bodyPr/>
        <a:lstStyle/>
        <a:p>
          <a:r>
            <a:rPr lang="en-US" dirty="0"/>
            <a:t>Octave online</a:t>
          </a:r>
        </a:p>
        <a:p>
          <a:r>
            <a:rPr lang="en-US" dirty="0"/>
            <a:t> </a:t>
          </a:r>
          <a:r>
            <a:rPr lang="en-US" dirty="0">
              <a:hlinkClick xmlns:r="http://schemas.openxmlformats.org/officeDocument/2006/relationships" r:id="rId2"/>
            </a:rPr>
            <a:t>https://octave-online.net/</a:t>
          </a:r>
          <a:endParaRPr lang="en-US" dirty="0"/>
        </a:p>
      </dgm:t>
    </dgm:pt>
    <dgm:pt modelId="{3DDF0279-8606-495D-AF8C-097171BC8935}" type="parTrans" cxnId="{E86E0FDC-7539-4A92-BD97-3E976B42A87C}">
      <dgm:prSet/>
      <dgm:spPr/>
      <dgm:t>
        <a:bodyPr/>
        <a:lstStyle/>
        <a:p>
          <a:endParaRPr lang="en-US"/>
        </a:p>
      </dgm:t>
    </dgm:pt>
    <dgm:pt modelId="{561F4257-E60C-4A56-B726-385DFE28CD1A}" type="sibTrans" cxnId="{E86E0FDC-7539-4A92-BD97-3E976B42A87C}">
      <dgm:prSet/>
      <dgm:spPr/>
      <dgm:t>
        <a:bodyPr/>
        <a:lstStyle/>
        <a:p>
          <a:endParaRPr lang="en-US"/>
        </a:p>
      </dgm:t>
    </dgm:pt>
    <dgm:pt modelId="{8265E424-E715-4FC4-A635-5C14F11DE61C}">
      <dgm:prSet/>
      <dgm:spPr/>
      <dgm:t>
        <a:bodyPr/>
        <a:lstStyle/>
        <a:p>
          <a:endParaRPr lang="en-US" dirty="0"/>
        </a:p>
      </dgm:t>
    </dgm:pt>
    <dgm:pt modelId="{2F73EF7A-A04F-4C07-83B0-4F71DF4E48EA}" type="parTrans" cxnId="{DCDAC1B1-7AE4-4934-B898-57D1AD14DDE0}">
      <dgm:prSet/>
      <dgm:spPr/>
      <dgm:t>
        <a:bodyPr/>
        <a:lstStyle/>
        <a:p>
          <a:endParaRPr lang="en-US"/>
        </a:p>
      </dgm:t>
    </dgm:pt>
    <dgm:pt modelId="{B7393E5C-FAEA-43C8-BDA7-71ED4CCFA508}" type="sibTrans" cxnId="{DCDAC1B1-7AE4-4934-B898-57D1AD14DDE0}">
      <dgm:prSet/>
      <dgm:spPr/>
      <dgm:t>
        <a:bodyPr/>
        <a:lstStyle/>
        <a:p>
          <a:endParaRPr lang="en-US"/>
        </a:p>
      </dgm:t>
    </dgm:pt>
    <dgm:pt modelId="{E493C716-2F0F-4F05-9F94-1B9F464A2610}">
      <dgm:prSet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dirty="0" err="1"/>
            <a:t>Freemat</a:t>
          </a:r>
          <a:endParaRPr lang="en-US" dirty="0"/>
        </a:p>
        <a:p>
          <a:pPr marL="0" lvl="0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dirty="0"/>
            <a:t>http://freemat.sourceforge.net/</a:t>
          </a:r>
        </a:p>
      </dgm:t>
    </dgm:pt>
    <dgm:pt modelId="{3A00035A-7E35-4D64-8389-4FCC275846E9}" type="parTrans" cxnId="{DE80D000-16C2-4DD8-B5DF-45FD09E0F100}">
      <dgm:prSet/>
      <dgm:spPr/>
      <dgm:t>
        <a:bodyPr/>
        <a:lstStyle/>
        <a:p>
          <a:endParaRPr lang="en-US"/>
        </a:p>
      </dgm:t>
    </dgm:pt>
    <dgm:pt modelId="{0E55D24A-317B-41F9-B129-55A1FCEC7449}" type="sibTrans" cxnId="{DE80D000-16C2-4DD8-B5DF-45FD09E0F100}">
      <dgm:prSet/>
      <dgm:spPr/>
      <dgm:t>
        <a:bodyPr/>
        <a:lstStyle/>
        <a:p>
          <a:endParaRPr lang="en-US"/>
        </a:p>
      </dgm:t>
    </dgm:pt>
    <dgm:pt modelId="{2A7752EF-514C-4A3F-A860-76690067F321}" type="pres">
      <dgm:prSet presAssocID="{4281A685-7FF3-44CA-8600-6FAE8CEDFB32}" presName="linear" presStyleCnt="0">
        <dgm:presLayoutVars>
          <dgm:animLvl val="lvl"/>
          <dgm:resizeHandles val="exact"/>
        </dgm:presLayoutVars>
      </dgm:prSet>
      <dgm:spPr/>
    </dgm:pt>
    <dgm:pt modelId="{4FB6F128-BCC9-444D-8C40-8F65AA3543D0}" type="pres">
      <dgm:prSet presAssocID="{758941B6-2DD0-45B1-8E75-F8F91673459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23BCD11-B8B3-4546-8414-07A6746830B2}" type="pres">
      <dgm:prSet presAssocID="{31D7BF46-5E00-4E9D-834F-6C7FDCEA5B8D}" presName="spacer" presStyleCnt="0"/>
      <dgm:spPr/>
    </dgm:pt>
    <dgm:pt modelId="{D613796E-A8C0-4EF1-9851-2D45D287650A}" type="pres">
      <dgm:prSet presAssocID="{B3FF8494-63C5-4B8E-A7FA-916F92BB08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E2EA7DD-46C7-4EBF-A38B-E2288FEBC600}" type="pres">
      <dgm:prSet presAssocID="{B3FF8494-63C5-4B8E-A7FA-916F92BB08EF}" presName="childText" presStyleLbl="revTx" presStyleIdx="0" presStyleCnt="1">
        <dgm:presLayoutVars>
          <dgm:bulletEnabled val="1"/>
        </dgm:presLayoutVars>
      </dgm:prSet>
      <dgm:spPr/>
    </dgm:pt>
    <dgm:pt modelId="{80DBFCC5-AB4A-4DFF-899B-F6CC27D939A5}" type="pres">
      <dgm:prSet presAssocID="{E493C716-2F0F-4F05-9F94-1B9F464A261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E80D000-16C2-4DD8-B5DF-45FD09E0F100}" srcId="{4281A685-7FF3-44CA-8600-6FAE8CEDFB32}" destId="{E493C716-2F0F-4F05-9F94-1B9F464A2610}" srcOrd="2" destOrd="0" parTransId="{3A00035A-7E35-4D64-8389-4FCC275846E9}" sibTransId="{0E55D24A-317B-41F9-B129-55A1FCEC7449}"/>
    <dgm:cxn modelId="{86025C5E-7713-4F4E-9C6E-4996C882B81E}" type="presOf" srcId="{4281A685-7FF3-44CA-8600-6FAE8CEDFB32}" destId="{2A7752EF-514C-4A3F-A860-76690067F321}" srcOrd="0" destOrd="0" presId="urn:microsoft.com/office/officeart/2005/8/layout/vList2"/>
    <dgm:cxn modelId="{0AB74C64-760C-4244-98FC-45433795E674}" type="presOf" srcId="{B3FF8494-63C5-4B8E-A7FA-916F92BB08EF}" destId="{D613796E-A8C0-4EF1-9851-2D45D287650A}" srcOrd="0" destOrd="0" presId="urn:microsoft.com/office/officeart/2005/8/layout/vList2"/>
    <dgm:cxn modelId="{458B4B8E-DDF7-4B48-B9DF-7D26E10C44B4}" type="presOf" srcId="{8265E424-E715-4FC4-A635-5C14F11DE61C}" destId="{8E2EA7DD-46C7-4EBF-A38B-E2288FEBC600}" srcOrd="0" destOrd="0" presId="urn:microsoft.com/office/officeart/2005/8/layout/vList2"/>
    <dgm:cxn modelId="{D8F5879B-8D5A-4E6B-8B4B-15F5F7B78FA5}" type="presOf" srcId="{758941B6-2DD0-45B1-8E75-F8F91673459C}" destId="{4FB6F128-BCC9-444D-8C40-8F65AA3543D0}" srcOrd="0" destOrd="0" presId="urn:microsoft.com/office/officeart/2005/8/layout/vList2"/>
    <dgm:cxn modelId="{DCDAC1B1-7AE4-4934-B898-57D1AD14DDE0}" srcId="{B3FF8494-63C5-4B8E-A7FA-916F92BB08EF}" destId="{8265E424-E715-4FC4-A635-5C14F11DE61C}" srcOrd="0" destOrd="0" parTransId="{2F73EF7A-A04F-4C07-83B0-4F71DF4E48EA}" sibTransId="{B7393E5C-FAEA-43C8-BDA7-71ED4CCFA508}"/>
    <dgm:cxn modelId="{83BEE8D4-57C2-4640-A910-5483AA671F52}" type="presOf" srcId="{E493C716-2F0F-4F05-9F94-1B9F464A2610}" destId="{80DBFCC5-AB4A-4DFF-899B-F6CC27D939A5}" srcOrd="0" destOrd="0" presId="urn:microsoft.com/office/officeart/2005/8/layout/vList2"/>
    <dgm:cxn modelId="{E86E0FDC-7539-4A92-BD97-3E976B42A87C}" srcId="{4281A685-7FF3-44CA-8600-6FAE8CEDFB32}" destId="{B3FF8494-63C5-4B8E-A7FA-916F92BB08EF}" srcOrd="1" destOrd="0" parTransId="{3DDF0279-8606-495D-AF8C-097171BC8935}" sibTransId="{561F4257-E60C-4A56-B726-385DFE28CD1A}"/>
    <dgm:cxn modelId="{D544F5FC-3D90-4A6D-8759-F42EA36EB0E5}" srcId="{4281A685-7FF3-44CA-8600-6FAE8CEDFB32}" destId="{758941B6-2DD0-45B1-8E75-F8F91673459C}" srcOrd="0" destOrd="0" parTransId="{C3C62090-88A1-45E5-A0EA-3240AA9A1E5B}" sibTransId="{31D7BF46-5E00-4E9D-834F-6C7FDCEA5B8D}"/>
    <dgm:cxn modelId="{F82FEEBD-84E3-4FB6-A4D6-53C4A63630F1}" type="presParOf" srcId="{2A7752EF-514C-4A3F-A860-76690067F321}" destId="{4FB6F128-BCC9-444D-8C40-8F65AA3543D0}" srcOrd="0" destOrd="0" presId="urn:microsoft.com/office/officeart/2005/8/layout/vList2"/>
    <dgm:cxn modelId="{61CD2A7A-00A9-43C6-96E1-676B826C0D9E}" type="presParOf" srcId="{2A7752EF-514C-4A3F-A860-76690067F321}" destId="{C23BCD11-B8B3-4546-8414-07A6746830B2}" srcOrd="1" destOrd="0" presId="urn:microsoft.com/office/officeart/2005/8/layout/vList2"/>
    <dgm:cxn modelId="{4C074DA6-F539-4208-9CB3-3AA8E1F4233A}" type="presParOf" srcId="{2A7752EF-514C-4A3F-A860-76690067F321}" destId="{D613796E-A8C0-4EF1-9851-2D45D287650A}" srcOrd="2" destOrd="0" presId="urn:microsoft.com/office/officeart/2005/8/layout/vList2"/>
    <dgm:cxn modelId="{9B1C3485-E24F-46FD-939B-121126C84A57}" type="presParOf" srcId="{2A7752EF-514C-4A3F-A860-76690067F321}" destId="{8E2EA7DD-46C7-4EBF-A38B-E2288FEBC600}" srcOrd="3" destOrd="0" presId="urn:microsoft.com/office/officeart/2005/8/layout/vList2"/>
    <dgm:cxn modelId="{A50FF726-F712-4337-A055-2C41C9DFB494}" type="presParOf" srcId="{2A7752EF-514C-4A3F-A860-76690067F321}" destId="{80DBFCC5-AB4A-4DFF-899B-F6CC27D939A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6F128-BCC9-444D-8C40-8F65AA3543D0}">
      <dsp:nvSpPr>
        <dsp:cNvPr id="0" name=""/>
        <dsp:cNvSpPr/>
      </dsp:nvSpPr>
      <dsp:spPr>
        <a:xfrm>
          <a:off x="0" y="1211017"/>
          <a:ext cx="4885203" cy="101190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Octave </a:t>
          </a:r>
          <a:r>
            <a:rPr lang="en-US" sz="2200" kern="1200" dirty="0">
              <a:hlinkClick xmlns:r="http://schemas.openxmlformats.org/officeDocument/2006/relationships" r:id="rId1"/>
            </a:rPr>
            <a:t>https://www.gnu.org/software/octave/</a:t>
          </a:r>
          <a:endParaRPr lang="en-US" sz="2200" kern="1200" dirty="0"/>
        </a:p>
      </dsp:txBody>
      <dsp:txXfrm>
        <a:off x="49397" y="1260414"/>
        <a:ext cx="4786409" cy="913109"/>
      </dsp:txXfrm>
    </dsp:sp>
    <dsp:sp modelId="{D613796E-A8C0-4EF1-9851-2D45D287650A}">
      <dsp:nvSpPr>
        <dsp:cNvPr id="0" name=""/>
        <dsp:cNvSpPr/>
      </dsp:nvSpPr>
      <dsp:spPr>
        <a:xfrm>
          <a:off x="0" y="2286281"/>
          <a:ext cx="4885203" cy="1011903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Octave online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</a:t>
          </a:r>
          <a:r>
            <a:rPr lang="en-US" sz="2200" kern="1200" dirty="0">
              <a:hlinkClick xmlns:r="http://schemas.openxmlformats.org/officeDocument/2006/relationships" r:id="rId2"/>
            </a:rPr>
            <a:t>https://octave-online.net/</a:t>
          </a:r>
          <a:endParaRPr lang="en-US" sz="2200" kern="1200" dirty="0"/>
        </a:p>
      </dsp:txBody>
      <dsp:txXfrm>
        <a:off x="49397" y="2335678"/>
        <a:ext cx="4786409" cy="913109"/>
      </dsp:txXfrm>
    </dsp:sp>
    <dsp:sp modelId="{8E2EA7DD-46C7-4EBF-A38B-E2288FEBC600}">
      <dsp:nvSpPr>
        <dsp:cNvPr id="0" name=""/>
        <dsp:cNvSpPr/>
      </dsp:nvSpPr>
      <dsp:spPr>
        <a:xfrm>
          <a:off x="0" y="3298184"/>
          <a:ext cx="4885203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105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700" kern="1200" dirty="0"/>
        </a:p>
      </dsp:txBody>
      <dsp:txXfrm>
        <a:off x="0" y="3298184"/>
        <a:ext cx="4885203" cy="364320"/>
      </dsp:txXfrm>
    </dsp:sp>
    <dsp:sp modelId="{80DBFCC5-AB4A-4DFF-899B-F6CC27D939A5}">
      <dsp:nvSpPr>
        <dsp:cNvPr id="0" name=""/>
        <dsp:cNvSpPr/>
      </dsp:nvSpPr>
      <dsp:spPr>
        <a:xfrm>
          <a:off x="0" y="3662504"/>
          <a:ext cx="4885203" cy="1011903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200" kern="1200" dirty="0" err="1"/>
            <a:t>Freemat</a:t>
          </a:r>
          <a:endParaRPr lang="en-US" sz="2200" kern="1200" dirty="0"/>
        </a:p>
        <a:p>
          <a:pPr marL="0"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http://freemat.sourceforge.net/</a:t>
          </a:r>
        </a:p>
      </dsp:txBody>
      <dsp:txXfrm>
        <a:off x="49397" y="3711901"/>
        <a:ext cx="4786409" cy="9131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3-01T07:07:57.2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8614 1383 715 0,'0'0'1185'0,"0"0"-949"0,0 0-179 15,0 0-30-15,0 0 44 0,-4-20 111 0,2 20 43 0,2 0-104 0,-2 0-70 0,2 0-25 0,0 0-14 0,0 0-12 16,0 2-1-16,0-2-16 16,0 2-38-16,0-2-33 15,0 2-7-15,0 0 28 16,0 0 34-16,4 0 9 15,2 3-7-15,-3-4 1 16,1 1 18-16,0 0 5 0,-1 0 4 16,-1 0 2-1,2 2 0-15,0-2 1 0,0 2 1 16,1-2-1 0,4-2-1-16,1 0-32 0,3 0-27 15,7 0-31-15,5-10 29 16,5-8 33-16,5-4 2 15,7-4 5-15,1 2 9 16,-1 0 12-16,-4 5 1 16,-5 4 0-16,-14 5 0 15,-8 10 1-15,-11 0 37 16,0 6 8-16,-18 22-3 0,-14 12-5 16,-9 12-14-1,-2 10-9-15,-4 1 7 0,6-5-3 16,5-6-1-16,12-8-11 15,11-12-1-15,7-10-6 16,6-8-7-16,8-12-29 16,21-2-30-16,7-8-26 15,14-18 24-15,9-10-25 16,2-4 49-16,-5 4 27 16,-13 8 17-16,-14 10 0 15,-14 10 1-15,-14 8 50 16,-1 0 43-16,-7 11-26 15,-12 8-21-15,-5 7-9 0,-2-2 11 16,3-2 12 0,8-6-8-16,4-6-16 15,9-6-34-15,2-4-3 0,15-10-130 16,11-16-265-16,2-8-836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3-29T09:17:37.6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10459 15235 170 0,'0'0'41'0,"0"0"-41"0,0 0 0 0,32-148 0 15,-17 98 102-15,4 3 9 16,-6 9 18-16,-2 12-28 16,-5 13 0-16,-6 11 45 15,0 2-8-15,0 0 134 16,0 15-131-16,-10 0-25 16,1 1-76-16,2-1-23 15,-1-2 18-15,2-3-6 16,-5-2-29-16,4 0-167 0,-6-8-519 15</inkml:trace>
  <inkml:trace contextRef="#ctx0" brushRef="#br0" timeOffset="3367.65">10396 14771 570 0,'0'0'180'0,"0"0"-97"16,0 0 8-16,0 0 45 0,0 0-21 16,0 0-52-16,0 0-43 15,-28 18-20-15,22-10-12 16,1 2-105-16,-7 0-189 0</inkml:trace>
  <inkml:trace contextRef="#ctx0" brushRef="#br0" timeOffset="4450">10575 14865 339 0,'0'0'180'16,"0"0"-57"-16,0 0-5 0,0 0 57 15,0 0-5-15,0 0-39 16,0 0-20-16,-54 22 10 16,43 2 7-16,0 4-13 15,-1 5-10-15,-2 6-7 16,0-1-10-16,1 4-5 15,0 3-5-15,2 0-20 16,3-1-18-16,5-1-11 16,3 5-5-16,0-3-5 15,0-4-10-15,7-1-1 16,10-2-1-16,4-2 3 16,3-8-9-16,4-6 0 15,4-8-1-15,3-10-1 16,1-4-1-16,-3-5-35 15,0-17 17-15,-6-11 5 0,-1-3 9 16,-5-4 6-16,-2-4 0 16,-8 1 1-16,2-6-1 15,-8 3 1-15,0 2 5 16,-3-1-4-16,-2 4 4 16,0-4-5-16,-2 3 0 15,-10 1 5-15,-2 0 0 16,-4 5 3-16,0 0 0 15,-5 6 16-15,-3-6-1 16,-2 4-2-16,0 1-4 0,2 8-3 16,1 7-4-1,3 8-11-15,1 8-7 0,-3 0-36 16,-24 39-86-16,5 2-155 16,1-3-418-16</inkml:trace>
  <inkml:trace contextRef="#ctx0" brushRef="#br0" timeOffset="5349.3">11139 15189 386 0,'0'0'306'0,"0"0"-151"0,0 0 41 16,0 0 14-16,0 0-55 15,0 0-40-15,0 0 11 16,3-16 3-16,-3 11-11 15,0 0-11-15,0-3 9 16,0 3 5-16,-5 0-17 16,-5 1-12-16,-5-1-8 15,-1 2-20-15,-2 2-21 16,-3 1-22-16,1 0-4 16,1 0-7-16,-1 4-2 15,4 7-1-15,0 5 0 0,3 7 1 16,2 0 2-16,3 8 8 15,-1 0 9-15,7 5 12 16,2 0-2 0,0 3-7-16,13-3-10 0,13-4-6 15,9-2-5-15,5-8-9 16,9-8-9-16,4-8-8 16,-1-6-112-16,0-2-62 15,6-42-39-15,-12 4-242 16,-11-4-365-16</inkml:trace>
  <inkml:trace contextRef="#ctx0" brushRef="#br0" timeOffset="5833.16">11516 14825 740 0,'0'0'276'0,"0"0"-72"0,0 0 63 15,0 0 37-15,0 0-77 16,0 0-95-16,0 0-5 15,0 52-8-15,11-11 2 16,2 13 13-16,-1 5-11 0,-1 7-41 16,-3 5-39-16,1-4-21 15,-2 2-14-15,-1-9-8 16,1-6-90-16,-1-14-116 16,1-14-97-16,-3-12-302 15,-2-12-249-15</inkml:trace>
  <inkml:trace contextRef="#ctx0" brushRef="#br0" timeOffset="6072.28">11331 15133 1570 0,'0'0'506'0,"0"0"-377"15,0 0 90-15,0 0-10 16,0 0-83-16,0 0-40 16,0 0-28-16,116-22-37 15,-64 22-21-15,6 0-83 16,19 0-186-16,-14 0-304 16,-11 0-488-16</inkml:trace>
  <inkml:trace contextRef="#ctx0" brushRef="#br0" timeOffset="6757.47">12156 15227 182 0,'0'0'666'0,"0"0"-527"15,0 0 11-15,0 0 94 0,0 0-5 16,0 0-62-16,0 0-13 15,5-68 37-15,-13 60-7 16,-7 2-40 0,-5 2-5-16,-3 4-33 0,-3 0-41 15,-2 0-29-15,0 0-18 16,-1 9-7-16,2 4-9 16,0 5-10-16,3 0-1 15,0 5 0-15,5-2 0 16,6 4 0-16,0 5 0 15,8-3 0-15,5-2 0 16,0 3-1-16,0-6-2 16,13-4-8-16,5-6-4 0,7-6-16 15,2-6-47-15,-1 0-43 16,2-6 34-16,-4-14 28 16,-4-4-2-1,-3-1-18-15,0-2 12 0,-2 0-6 16,-2 0-8-16,-2 5 42 15,-2-3 17-15,-1 5 2 16,-2 6 14-16,-3 6 5 16,0 4 1-16,-3 4 43 15,0 0 60-15,0 4-22 16,0 12-33-16,0 7-6 16,1 5-10-16,4-2 1 15,1 6-13-15,4-5-10 16,-1-4-11-16,2-3-61 15,4-4-104-15,-2-8-174 16,-3-4-418-16</inkml:trace>
  <inkml:trace contextRef="#ctx0" brushRef="#br0" timeOffset="7215.5">12330 15115 1258 0,'0'0'337'0,"0"0"-232"0,0 0 89 16,0 0 51-16,0 0-72 15,0 0-75-15,15 107-24 16,-6-76 3-16,2 4-16 15,2-3-20-15,-2 0-16 16,2-2-10-16,-1-6-8 16,0-4-1-16,2-4-4 15,-3-4-2-15,0-4 0 16,-2-6-1-16,-3-2 0 16,1 0-24-16,-1 0 13 15,1-10 12-15,1-8 6 16,2-4-5-16,-1-8 0 0,0-2 8 15,1-4-8-15,-3 0 8 16,0-4-8-16,-1 4 1 16,1 3 5-16,2 7-1 15,-5 0-6-15,6 8 0 16,-3 4-14-16,0 0-88 16,-4 11-74-16,-3 3-133 15,0 7-375-15,0 11-335 0</inkml:trace>
  <inkml:trace contextRef="#ctx0" brushRef="#br0" timeOffset="7837.61">12735 15243 819 0,'0'0'382'0,"0"0"-230"0,0 0 63 0,0 0 31 16,0 0-58-16,0 0-40 15,0 0-28-15,30 2-3 16,-17 3-25-16,4-2-11 15,3 2-11-15,1-5-17 16,3 0-13-16,1 0-19 16,-1-5-20-16,-4-5-1 15,-1-1-15-15,-1 1 2 16,-8-7-18-16,-1 3 1 0,-2 0 7 16,-7 2 14-16,0 0 8 15,0 0 1-15,-13 3 1 16,-5 0-1-16,-2 5 0 15,-3 0 0-15,2 0 1 16,1 4 8-16,1 0 9 16,4 0-1-16,1 0 4 15,4 2 5-15,-1 8 0 16,4-4 2-16,1 6-3 0,0 0 1 16,1 6 2-1,1 2 14-15,2 6 7 0,2 2 7 16,0 3-4-16,0 1-6 15,4-2-10-15,9-4-4 16,4-2-2-16,1-6-8 16,7-2-5-16,-1-12-5 15,6-4-6-15,4 0-6 16,6-8-20-16,3-14-35 16,7-13-110-16,15-22-128 15,-9 6-225-15,-8 3-407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49B8125-4B8F-4CD8-A8D4-C8129A40C449}" type="datetimeFigureOut">
              <a:rPr lang="en-US"/>
              <a:pPr>
                <a:defRPr/>
              </a:pPr>
              <a:t>3/29/2026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CE82906-D277-474C-ADBD-D2B0C3B243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2464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E82906-D277-474C-ADBD-D2B0C3B243CD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349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 err="1">
                <a:latin typeface="TimesNewRoman"/>
              </a:rPr>
              <a:t>Trecerea</a:t>
            </a:r>
            <a:r>
              <a:rPr lang="en-US" sz="1800" b="0" i="0" u="none" strike="noStrike" baseline="0" dirty="0">
                <a:latin typeface="TimesNewRoman"/>
              </a:rPr>
              <a:t> de la </a:t>
            </a:r>
            <a:r>
              <a:rPr lang="en-US" sz="1800" b="0" i="0" u="none" strike="noStrike" baseline="0" dirty="0" err="1">
                <a:latin typeface="TimesNewRoman"/>
              </a:rPr>
              <a:t>modelul</a:t>
            </a:r>
            <a:r>
              <a:rPr lang="en-US" sz="1800" b="0" i="0" u="none" strike="noStrike" baseline="0" dirty="0">
                <a:latin typeface="TimesNewRoman"/>
              </a:rPr>
              <a:t> </a:t>
            </a:r>
            <a:r>
              <a:rPr lang="en-US" sz="1800" b="0" i="0" u="none" strike="noStrike" baseline="0" dirty="0" err="1">
                <a:latin typeface="TimesNewRoman"/>
              </a:rPr>
              <a:t>matematic</a:t>
            </a:r>
            <a:r>
              <a:rPr lang="en-US" sz="1800" b="0" i="0" u="none" strike="noStrike" baseline="0" dirty="0">
                <a:latin typeface="TimesNewRoman"/>
              </a:rPr>
              <a:t> la </a:t>
            </a:r>
            <a:r>
              <a:rPr lang="en-US" sz="1800" b="0" i="0" u="none" strike="noStrike" baseline="0" dirty="0" err="1">
                <a:latin typeface="TimesNewRoman"/>
              </a:rPr>
              <a:t>cel</a:t>
            </a:r>
            <a:r>
              <a:rPr lang="en-US" sz="1800" b="0" i="0" u="none" strike="noStrike" baseline="0" dirty="0">
                <a:latin typeface="TimesNewRoman"/>
              </a:rPr>
              <a:t> numeric se face, </a:t>
            </a:r>
            <a:r>
              <a:rPr lang="en-US" sz="1800" b="0" i="0" u="none" strike="noStrike" baseline="0" dirty="0" err="1">
                <a:latin typeface="TimesNewRoman"/>
              </a:rPr>
              <a:t>în</a:t>
            </a:r>
            <a:endParaRPr lang="en-US" sz="1800" b="0" i="0" u="none" strike="noStrike" baseline="0" dirty="0">
              <a:latin typeface="TimesNewRoman"/>
            </a:endParaRPr>
          </a:p>
          <a:p>
            <a:pPr algn="l"/>
            <a:r>
              <a:rPr lang="en-US" sz="1800" b="0" i="0" u="none" strike="noStrike" baseline="0" dirty="0">
                <a:latin typeface="TimesNewRoman"/>
              </a:rPr>
              <a:t>general, pe </a:t>
            </a:r>
            <a:r>
              <a:rPr lang="en-US" sz="1800" b="0" i="0" u="none" strike="noStrike" baseline="0" dirty="0" err="1">
                <a:latin typeface="TimesNewRoman"/>
              </a:rPr>
              <a:t>baza</a:t>
            </a:r>
            <a:r>
              <a:rPr lang="en-US" sz="1800" b="0" i="0" u="none" strike="noStrike" baseline="0" dirty="0">
                <a:latin typeface="TimesNewRoman"/>
              </a:rPr>
              <a:t> </a:t>
            </a:r>
            <a:r>
              <a:rPr lang="en-US" sz="1800" b="0" i="0" u="none" strike="noStrike" baseline="0" dirty="0" err="1">
                <a:latin typeface="TimesNewRoman"/>
              </a:rPr>
              <a:t>unor</a:t>
            </a:r>
            <a:r>
              <a:rPr lang="en-US" sz="1800" b="0" i="0" u="none" strike="noStrike" baseline="0" dirty="0">
                <a:latin typeface="TimesNewRoman"/>
              </a:rPr>
              <a:t> </a:t>
            </a:r>
            <a:r>
              <a:rPr lang="en-US" sz="1800" b="0" i="0" u="none" strike="noStrike" baseline="0" dirty="0" err="1">
                <a:latin typeface="TimesNewRoman"/>
              </a:rPr>
              <a:t>aproximări</a:t>
            </a:r>
            <a:r>
              <a:rPr lang="en-US" sz="1800" b="0" i="0" u="none" strike="noStrike" baseline="0" dirty="0">
                <a:latin typeface="TimesNewRoman"/>
              </a:rPr>
              <a:t> </a:t>
            </a:r>
            <a:r>
              <a:rPr lang="en-US" sz="1800" b="0" i="0" u="none" strike="noStrike" baseline="0" dirty="0" err="1">
                <a:latin typeface="TimesNewRoman"/>
              </a:rPr>
              <a:t>și</a:t>
            </a:r>
            <a:r>
              <a:rPr lang="en-US" sz="1800" b="0" i="0" u="none" strike="noStrike" baseline="0" dirty="0">
                <a:latin typeface="TimesNewRoman"/>
              </a:rPr>
              <a:t> de </a:t>
            </a:r>
            <a:r>
              <a:rPr lang="en-US" sz="1800" b="0" i="0" u="none" strike="noStrike" baseline="0" dirty="0" err="1">
                <a:latin typeface="TimesNewRoman"/>
              </a:rPr>
              <a:t>aceea</a:t>
            </a:r>
            <a:r>
              <a:rPr lang="en-US" sz="1800" b="0" i="0" u="none" strike="noStrike" baseline="0" dirty="0">
                <a:latin typeface="TimesNewRoman"/>
              </a:rPr>
              <a:t> </a:t>
            </a:r>
            <a:r>
              <a:rPr lang="en-US" sz="1800" b="0" i="0" u="none" strike="noStrike" baseline="0" dirty="0" err="1">
                <a:latin typeface="TimesNewRoman"/>
              </a:rPr>
              <a:t>soluția</a:t>
            </a:r>
            <a:r>
              <a:rPr lang="en-US" sz="1800" b="0" i="0" u="none" strike="noStrike" baseline="0" dirty="0">
                <a:latin typeface="TimesNewRoman"/>
              </a:rPr>
              <a:t> </a:t>
            </a:r>
            <a:r>
              <a:rPr lang="en-US" sz="1800" b="0" i="0" u="none" strike="noStrike" baseline="0" dirty="0" err="1">
                <a:latin typeface="TimesNewRoman"/>
              </a:rPr>
              <a:t>oferită</a:t>
            </a:r>
            <a:r>
              <a:rPr lang="en-US" sz="1800" b="0" i="0" u="none" strike="noStrike" baseline="0" dirty="0">
                <a:latin typeface="TimesNewRoman"/>
              </a:rPr>
              <a:t> de</a:t>
            </a:r>
          </a:p>
          <a:p>
            <a:pPr algn="l"/>
            <a:r>
              <a:rPr lang="pt-BR" sz="1800" b="0" i="0" u="none" strike="noStrike" baseline="0" dirty="0">
                <a:latin typeface="TimesNewRoman"/>
              </a:rPr>
              <a:t>algoritmii rezultați ca urmare a aplicării metodelor numerice este, de</a:t>
            </a:r>
          </a:p>
          <a:p>
            <a:pPr algn="l"/>
            <a:r>
              <a:rPr lang="it-IT" sz="1800" b="0" i="0" u="none" strike="noStrike" baseline="0" dirty="0">
                <a:latin typeface="TimesNewRoman"/>
              </a:rPr>
              <a:t>cele mai multe ori, una aproximativă.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E82906-D277-474C-ADBD-D2B0C3B243CD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5370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 i="0" u="none" strike="noStrike" baseline="0" dirty="0" err="1">
                <a:latin typeface="TimesNewRoman"/>
              </a:rPr>
              <a:t>Trecerea</a:t>
            </a:r>
            <a:r>
              <a:rPr lang="en-US" sz="1200" b="0" i="0" u="none" strike="noStrike" baseline="0" dirty="0">
                <a:latin typeface="TimesNewRoman"/>
              </a:rPr>
              <a:t> de la </a:t>
            </a:r>
            <a:r>
              <a:rPr lang="en-US" sz="1200" b="0" i="0" u="none" strike="noStrike" baseline="0" dirty="0" err="1">
                <a:latin typeface="TimesNewRoman"/>
              </a:rPr>
              <a:t>modelul</a:t>
            </a:r>
            <a:r>
              <a:rPr lang="en-US" sz="1200" b="0" i="0" u="none" strike="noStrike" baseline="0" dirty="0">
                <a:latin typeface="TimesNewRoman"/>
              </a:rPr>
              <a:t> </a:t>
            </a:r>
            <a:r>
              <a:rPr lang="en-US" sz="1200" b="0" i="0" u="none" strike="noStrike" baseline="0" dirty="0" err="1">
                <a:latin typeface="TimesNewRoman"/>
              </a:rPr>
              <a:t>matematic</a:t>
            </a:r>
            <a:r>
              <a:rPr lang="en-US" sz="1200" b="0" i="0" u="none" strike="noStrike" baseline="0" dirty="0">
                <a:latin typeface="TimesNewRoman"/>
              </a:rPr>
              <a:t> la </a:t>
            </a:r>
            <a:r>
              <a:rPr lang="en-US" sz="1200" b="0" i="0" u="none" strike="noStrike" baseline="0" dirty="0" err="1">
                <a:latin typeface="TimesNewRoman"/>
              </a:rPr>
              <a:t>cel</a:t>
            </a:r>
            <a:r>
              <a:rPr lang="en-US" sz="1200" b="0" i="0" u="none" strike="noStrike" baseline="0" dirty="0">
                <a:latin typeface="TimesNewRoman"/>
              </a:rPr>
              <a:t> numeric se face, </a:t>
            </a:r>
            <a:r>
              <a:rPr lang="en-US" sz="1200" b="0" i="0" u="none" strike="noStrike" baseline="0" dirty="0" err="1">
                <a:latin typeface="TimesNewRoman"/>
              </a:rPr>
              <a:t>în</a:t>
            </a:r>
            <a:endParaRPr lang="en-US" sz="1200" b="0" i="0" u="none" strike="noStrike" baseline="0" dirty="0">
              <a:latin typeface="TimesNewRoman"/>
            </a:endParaRP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general, pe </a:t>
            </a:r>
            <a:r>
              <a:rPr lang="en-US" sz="1200" b="0" i="0" u="none" strike="noStrike" baseline="0" dirty="0" err="1">
                <a:latin typeface="TimesNewRoman"/>
              </a:rPr>
              <a:t>baza</a:t>
            </a:r>
            <a:r>
              <a:rPr lang="en-US" sz="1200" b="0" i="0" u="none" strike="noStrike" baseline="0" dirty="0">
                <a:latin typeface="TimesNewRoman"/>
              </a:rPr>
              <a:t> </a:t>
            </a:r>
            <a:r>
              <a:rPr lang="en-US" sz="1200" b="0" i="0" u="none" strike="noStrike" baseline="0" dirty="0" err="1">
                <a:latin typeface="TimesNewRoman"/>
              </a:rPr>
              <a:t>unor</a:t>
            </a:r>
            <a:r>
              <a:rPr lang="en-US" sz="1200" b="0" i="0" u="none" strike="noStrike" baseline="0" dirty="0">
                <a:latin typeface="TimesNewRoman"/>
              </a:rPr>
              <a:t> </a:t>
            </a:r>
            <a:r>
              <a:rPr lang="en-US" sz="1200" b="0" i="0" u="none" strike="noStrike" baseline="0" dirty="0" err="1">
                <a:latin typeface="TimesNewRoman"/>
              </a:rPr>
              <a:t>aproximări</a:t>
            </a:r>
            <a:r>
              <a:rPr lang="en-US" sz="1200" b="0" i="0" u="none" strike="noStrike" baseline="0" dirty="0">
                <a:latin typeface="TimesNewRoman"/>
              </a:rPr>
              <a:t> </a:t>
            </a:r>
            <a:r>
              <a:rPr lang="en-US" sz="1200" b="0" i="0" u="none" strike="noStrike" baseline="0" dirty="0" err="1">
                <a:latin typeface="TimesNewRoman"/>
              </a:rPr>
              <a:t>și</a:t>
            </a:r>
            <a:r>
              <a:rPr lang="en-US" sz="1200" b="0" i="0" u="none" strike="noStrike" baseline="0" dirty="0">
                <a:latin typeface="TimesNewRoman"/>
              </a:rPr>
              <a:t> de </a:t>
            </a:r>
            <a:r>
              <a:rPr lang="en-US" sz="1200" b="0" i="0" u="none" strike="noStrike" baseline="0" dirty="0" err="1">
                <a:latin typeface="TimesNewRoman"/>
              </a:rPr>
              <a:t>aceea</a:t>
            </a:r>
            <a:r>
              <a:rPr lang="en-US" sz="1200" b="0" i="0" u="none" strike="noStrike" baseline="0" dirty="0">
                <a:latin typeface="TimesNewRoman"/>
              </a:rPr>
              <a:t> </a:t>
            </a:r>
            <a:r>
              <a:rPr lang="en-US" sz="1200" b="0" i="0" u="none" strike="noStrike" baseline="0" dirty="0" err="1">
                <a:latin typeface="TimesNewRoman"/>
              </a:rPr>
              <a:t>soluția</a:t>
            </a:r>
            <a:r>
              <a:rPr lang="en-US" sz="1200" b="0" i="0" u="none" strike="noStrike" baseline="0" dirty="0">
                <a:latin typeface="TimesNewRoman"/>
              </a:rPr>
              <a:t> </a:t>
            </a:r>
            <a:r>
              <a:rPr lang="en-US" sz="1200" b="0" i="0" u="none" strike="noStrike" baseline="0" dirty="0" err="1">
                <a:latin typeface="TimesNewRoman"/>
              </a:rPr>
              <a:t>oferită</a:t>
            </a:r>
            <a:r>
              <a:rPr lang="en-US" sz="1200" b="0" i="0" u="none" strike="noStrike" baseline="0" dirty="0">
                <a:latin typeface="TimesNewRoman"/>
              </a:rPr>
              <a:t> de</a:t>
            </a:r>
          </a:p>
          <a:p>
            <a:pPr algn="l"/>
            <a:r>
              <a:rPr lang="pt-BR" sz="1200" b="0" i="0" u="none" strike="noStrike" baseline="0" dirty="0">
                <a:latin typeface="TimesNewRoman"/>
              </a:rPr>
              <a:t>algoritmii rezultați ca urmare a aplicării metodelor numerice este, de</a:t>
            </a:r>
          </a:p>
          <a:p>
            <a:pPr algn="l"/>
            <a:r>
              <a:rPr lang="it-IT" sz="1200" b="0" i="0" u="none" strike="noStrike" baseline="0" dirty="0">
                <a:latin typeface="TimesNewRoman"/>
              </a:rPr>
              <a:t>cele mai multe ori, una aproximativă.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E82906-D277-474C-ADBD-D2B0C3B243CD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507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E82906-D277-474C-ADBD-D2B0C3B243CD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780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general, </a:t>
            </a:r>
            <a:r>
              <a:rPr lang="en-US" dirty="0" err="1"/>
              <a:t>alg</a:t>
            </a:r>
            <a:r>
              <a:rPr lang="en-US" dirty="0"/>
              <a:t> </a:t>
            </a:r>
            <a:r>
              <a:rPr lang="en-US" dirty="0" err="1"/>
              <a:t>numerici</a:t>
            </a:r>
            <a:r>
              <a:rPr lang="en-US" dirty="0"/>
              <a:t> </a:t>
            </a:r>
            <a:r>
              <a:rPr lang="en-US" dirty="0" err="1"/>
              <a:t>presupun</a:t>
            </a:r>
            <a:r>
              <a:rPr lang="en-US" dirty="0"/>
              <a:t> </a:t>
            </a:r>
            <a:r>
              <a:rPr lang="en-US" dirty="0" err="1"/>
              <a:t>efectuarea</a:t>
            </a:r>
            <a:r>
              <a:rPr lang="en-US" dirty="0"/>
              <a:t> de </a:t>
            </a:r>
            <a:r>
              <a:rPr lang="en-US" dirty="0" err="1"/>
              <a:t>calcule</a:t>
            </a:r>
            <a:r>
              <a:rPr lang="en-US" dirty="0"/>
              <a:t>. </a:t>
            </a:r>
            <a:r>
              <a:rPr lang="en-US" dirty="0" err="1"/>
              <a:t>Inainte</a:t>
            </a:r>
            <a:r>
              <a:rPr lang="en-US" dirty="0"/>
              <a:t> de </a:t>
            </a:r>
            <a:r>
              <a:rPr lang="en-US" dirty="0" err="1"/>
              <a:t>aparitia</a:t>
            </a:r>
            <a:r>
              <a:rPr lang="en-US" dirty="0"/>
              <a:t> calc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erau</a:t>
            </a:r>
            <a:r>
              <a:rPr lang="en-US" dirty="0"/>
              <a:t> </a:t>
            </a:r>
            <a:r>
              <a:rPr lang="en-US" dirty="0" err="1"/>
              <a:t>facute</a:t>
            </a:r>
            <a:r>
              <a:rPr lang="en-US" dirty="0"/>
              <a:t> de mana.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apoi</a:t>
            </a:r>
            <a:r>
              <a:rPr lang="en-US" dirty="0"/>
              <a:t> </a:t>
            </a:r>
            <a:r>
              <a:rPr lang="en-US" dirty="0" err="1"/>
              <a:t>inventate</a:t>
            </a:r>
            <a:r>
              <a:rPr lang="en-US" dirty="0"/>
              <a:t> </a:t>
            </a:r>
            <a:r>
              <a:rPr lang="en-US" dirty="0" err="1"/>
              <a:t>masini</a:t>
            </a:r>
            <a:r>
              <a:rPr lang="en-US" dirty="0"/>
              <a:t> de </a:t>
            </a:r>
            <a:r>
              <a:rPr lang="en-US" dirty="0" err="1"/>
              <a:t>calcul</a:t>
            </a:r>
            <a:r>
              <a:rPr lang="en-US" dirty="0"/>
              <a:t>.- </a:t>
            </a:r>
            <a:r>
              <a:rPr lang="en-US" dirty="0" err="1"/>
              <a:t>calculatoare</a:t>
            </a:r>
            <a:r>
              <a:rPr lang="en-US" dirty="0"/>
              <a:t> </a:t>
            </a:r>
            <a:r>
              <a:rPr lang="en-US" dirty="0" err="1"/>
              <a:t>mecanice</a:t>
            </a:r>
            <a:r>
              <a:rPr lang="en-US" dirty="0"/>
              <a:t>: dispositive </a:t>
            </a:r>
            <a:r>
              <a:rPr lang="en-US" dirty="0" err="1"/>
              <a:t>mecanice</a:t>
            </a:r>
            <a:r>
              <a:rPr lang="en-US" dirty="0"/>
              <a:t> capable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efectueze</a:t>
            </a:r>
            <a:r>
              <a:rPr lang="en-US" dirty="0"/>
              <a:t> </a:t>
            </a:r>
            <a:r>
              <a:rPr lang="en-US" dirty="0" err="1"/>
              <a:t>operatiile</a:t>
            </a:r>
            <a:r>
              <a:rPr lang="en-US" dirty="0"/>
              <a:t> de </a:t>
            </a:r>
            <a:r>
              <a:rPr lang="en-US" dirty="0" err="1"/>
              <a:t>baza</a:t>
            </a:r>
            <a:r>
              <a:rPr lang="en-US" dirty="0"/>
              <a:t>.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vechi</a:t>
            </a:r>
            <a:r>
              <a:rPr lang="en-US" dirty="0"/>
              <a:t> – 1623. In </a:t>
            </a:r>
            <a:r>
              <a:rPr lang="en-US" dirty="0" err="1"/>
              <a:t>ordine</a:t>
            </a:r>
            <a:r>
              <a:rPr lang="en-US" dirty="0"/>
              <a:t>, in </a:t>
            </a:r>
            <a:r>
              <a:rPr lang="en-US" dirty="0" err="1"/>
              <a:t>sensul</a:t>
            </a:r>
            <a:r>
              <a:rPr lang="en-US" dirty="0"/>
              <a:t> </a:t>
            </a:r>
            <a:r>
              <a:rPr lang="en-US" dirty="0" err="1"/>
              <a:t>acelor</a:t>
            </a:r>
            <a:r>
              <a:rPr lang="en-US" dirty="0"/>
              <a:t> de </a:t>
            </a:r>
            <a:r>
              <a:rPr lang="en-US" dirty="0" err="1"/>
              <a:t>ceasornic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E82906-D277-474C-ADBD-D2B0C3B243CD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864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E82906-D277-474C-ADBD-D2B0C3B243CD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211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Odata</a:t>
            </a:r>
            <a:r>
              <a:rPr lang="en-US" dirty="0"/>
              <a:t> cu </a:t>
            </a:r>
            <a:r>
              <a:rPr lang="en-US" dirty="0" err="1"/>
              <a:t>inventarea</a:t>
            </a:r>
            <a:r>
              <a:rPr lang="en-US" dirty="0"/>
              <a:t> </a:t>
            </a:r>
            <a:r>
              <a:rPr lang="en-US" dirty="0" err="1"/>
              <a:t>calculatoarelor</a:t>
            </a:r>
            <a:r>
              <a:rPr lang="en-US" dirty="0"/>
              <a:t> </a:t>
            </a:r>
            <a:r>
              <a:rPr lang="en-US" dirty="0" err="1"/>
              <a:t>moderne</a:t>
            </a:r>
            <a:r>
              <a:rPr lang="en-US" dirty="0"/>
              <a:t>,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descoperite</a:t>
            </a:r>
            <a:r>
              <a:rPr lang="en-US" dirty="0"/>
              <a:t> tot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,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revazute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vechi</a:t>
            </a:r>
            <a:r>
              <a:rPr lang="en-US" dirty="0"/>
              <a:t>, s-a </a:t>
            </a:r>
            <a:r>
              <a:rPr lang="en-US" dirty="0" err="1"/>
              <a:t>dezvoltat</a:t>
            </a:r>
            <a:r>
              <a:rPr lang="en-US" dirty="0"/>
              <a:t> </a:t>
            </a:r>
            <a:r>
              <a:rPr lang="en-US" dirty="0" err="1"/>
              <a:t>atat</a:t>
            </a:r>
            <a:r>
              <a:rPr lang="en-US" dirty="0"/>
              <a:t> </a:t>
            </a:r>
            <a:r>
              <a:rPr lang="en-US" dirty="0" err="1"/>
              <a:t>suportul</a:t>
            </a:r>
            <a:r>
              <a:rPr lang="en-US" dirty="0"/>
              <a:t> theoretic cat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aplicarea</a:t>
            </a:r>
            <a:r>
              <a:rPr lang="en-US" dirty="0"/>
              <a:t> </a:t>
            </a:r>
            <a:r>
              <a:rPr lang="en-US" dirty="0" err="1"/>
              <a:t>acestora</a:t>
            </a:r>
            <a:r>
              <a:rPr lang="en-US" dirty="0"/>
              <a:t> in cat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domenii</a:t>
            </a:r>
            <a:r>
              <a:rPr lang="en-US" dirty="0"/>
              <a:t>.</a:t>
            </a:r>
          </a:p>
          <a:p>
            <a:r>
              <a:rPr lang="en-US" dirty="0"/>
              <a:t>Sqrt(2) –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de 1 million de </a:t>
            </a:r>
            <a:r>
              <a:rPr lang="en-US" dirty="0" err="1"/>
              <a:t>cifre</a:t>
            </a:r>
            <a:r>
              <a:rPr lang="en-US" dirty="0"/>
              <a:t> https://apod.nasa.gov/htmltest/gifcity/sqrt2.1mil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E82906-D277-474C-ADBD-D2B0C3B243CD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9336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Odata</a:t>
            </a:r>
            <a:r>
              <a:rPr lang="en-US" dirty="0"/>
              <a:t> cu </a:t>
            </a:r>
            <a:r>
              <a:rPr lang="en-US" dirty="0" err="1"/>
              <a:t>inventarea</a:t>
            </a:r>
            <a:r>
              <a:rPr lang="en-US" dirty="0"/>
              <a:t> </a:t>
            </a:r>
            <a:r>
              <a:rPr lang="en-US" dirty="0" err="1"/>
              <a:t>calculatoarelor</a:t>
            </a:r>
            <a:r>
              <a:rPr lang="en-US" dirty="0"/>
              <a:t> </a:t>
            </a:r>
            <a:r>
              <a:rPr lang="en-US" dirty="0" err="1"/>
              <a:t>moderne</a:t>
            </a:r>
            <a:r>
              <a:rPr lang="en-US" dirty="0"/>
              <a:t>,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descoperite</a:t>
            </a:r>
            <a:r>
              <a:rPr lang="en-US" dirty="0"/>
              <a:t> tot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,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revazute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vechi</a:t>
            </a:r>
            <a:r>
              <a:rPr lang="en-US" dirty="0"/>
              <a:t>, s-a </a:t>
            </a:r>
            <a:r>
              <a:rPr lang="en-US" dirty="0" err="1"/>
              <a:t>dezvoltat</a:t>
            </a:r>
            <a:r>
              <a:rPr lang="en-US" dirty="0"/>
              <a:t> </a:t>
            </a:r>
            <a:r>
              <a:rPr lang="en-US" dirty="0" err="1"/>
              <a:t>atat</a:t>
            </a:r>
            <a:r>
              <a:rPr lang="en-US" dirty="0"/>
              <a:t> </a:t>
            </a:r>
            <a:r>
              <a:rPr lang="en-US" dirty="0" err="1"/>
              <a:t>suportul</a:t>
            </a:r>
            <a:r>
              <a:rPr lang="en-US" dirty="0"/>
              <a:t> theoretic cat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aplicarea</a:t>
            </a:r>
            <a:r>
              <a:rPr lang="en-US" dirty="0"/>
              <a:t> </a:t>
            </a:r>
            <a:r>
              <a:rPr lang="en-US" dirty="0" err="1"/>
              <a:t>acestora</a:t>
            </a:r>
            <a:r>
              <a:rPr lang="en-US" dirty="0"/>
              <a:t> in cat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domenii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E82906-D277-474C-ADBD-D2B0C3B243CD}" type="slidenum">
              <a:rPr lang="en-GB" smtClean="0"/>
              <a:pPr>
                <a:defRPr/>
              </a:pPr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8598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4881C0-A209-46F4-8992-9849B0B4EE89}" type="datetimeFigureOut">
              <a:rPr lang="en-US" smtClean="0"/>
              <a:pPr>
                <a:defRPr/>
              </a:pPr>
              <a:t>3/29/2026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B60F5A-5D33-4EAE-B827-A21D71B18F06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DF2072-B5C4-4DDC-88B7-8E2244168701}" type="datetimeFigureOut">
              <a:rPr lang="en-US" smtClean="0"/>
              <a:pPr>
                <a:defRPr/>
              </a:pPr>
              <a:t>3/29/2026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510CB5-7F56-4D0F-8680-46947EF3BE49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B7C4896-849F-4896-BFD4-191EF7B0C1BB}" type="datetimeFigureOut">
              <a:rPr lang="en-US" smtClean="0"/>
              <a:pPr>
                <a:defRPr/>
              </a:pPr>
              <a:t>3/29/2026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B9625-F08E-4C63-8D0D-ADA78CEE7777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EF7E11-BC86-4202-91E1-B67F74B78D51}" type="datetimeFigureOut">
              <a:rPr lang="en-US" smtClean="0"/>
              <a:pPr>
                <a:defRPr/>
              </a:pPr>
              <a:t>3/29/2026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F2A30F-6856-4997-8D8C-ECA91FACC939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1424A2-7613-4F5A-9AA5-D9094E9BDAC2}" type="datetimeFigureOut">
              <a:rPr lang="en-US" smtClean="0"/>
              <a:pPr>
                <a:defRPr/>
              </a:pPr>
              <a:t>3/29/2026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A130C0-B8FE-4649-8D67-750FB78D66CA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5EEE31F-3B0D-45DC-9975-8E67A07F852B}" type="datetimeFigureOut">
              <a:rPr lang="en-US" smtClean="0"/>
              <a:pPr>
                <a:defRPr/>
              </a:pPr>
              <a:t>3/29/2026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0A51CC-5E79-4FEF-A5F1-84356081428F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391C0E-138B-4A99-AB92-1D9ED4D5BE6E}" type="datetimeFigureOut">
              <a:rPr lang="en-US" smtClean="0"/>
              <a:pPr>
                <a:defRPr/>
              </a:pPr>
              <a:t>3/29/2026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E201E2-2E31-4566-B402-0E80D3F87096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8D3AB9-41B5-4883-9167-9BF0881C4854}" type="datetimeFigureOut">
              <a:rPr lang="en-US" smtClean="0"/>
              <a:pPr>
                <a:defRPr/>
              </a:pPr>
              <a:t>3/29/2026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2DB7BB-D7BE-4D86-A100-D25CF4982730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7C16865-FE95-445E-A951-C5B3F1DB2B38}" type="datetimeFigureOut">
              <a:rPr lang="en-US" smtClean="0"/>
              <a:pPr>
                <a:defRPr/>
              </a:pPr>
              <a:t>3/29/2026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5E2DC2-2C66-405D-BD6A-5C903418B63A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1EFFD0-D977-44C4-9A4C-BEFC411D6F35}" type="datetimeFigureOut">
              <a:rPr lang="en-US" smtClean="0"/>
              <a:pPr>
                <a:defRPr/>
              </a:pPr>
              <a:t>3/29/2026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DBD110-B777-40F2-810D-DBF3904B5315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AEEEF1-3F2C-48B9-B3B5-F8250F2612AF}" type="datetimeFigureOut">
              <a:rPr lang="en-US" smtClean="0"/>
              <a:pPr>
                <a:defRPr/>
              </a:pPr>
              <a:t>3/29/2026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70F09B-42D0-425B-A57D-A216B1AD4579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EAA1ADC-C1B5-4892-9F81-E8C9D4AC7927}" type="datetimeFigureOut">
              <a:rPr lang="en-US" smtClean="0"/>
              <a:pPr>
                <a:defRPr/>
              </a:pPr>
              <a:t>3/29/2026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E4A854F-94DD-424F-830A-DEF5AD644F75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mathworks.com/products/matlab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athworks.com/products/matlab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://en.wikipedia.org/wiki/Numerical_analysis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s2T_158EsOw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pod.nasa.gov/htmltest/gifcity/sqrt2.1mi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51D98CAC-3EFF-4342-BD5A-6C0E8CAB4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28650" y="520700"/>
            <a:ext cx="7886700" cy="3486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7743" y="958852"/>
            <a:ext cx="7148513" cy="2514597"/>
          </a:xfrm>
        </p:spPr>
        <p:txBody>
          <a:bodyPr anchor="b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7000" dirty="0">
                <a:solidFill>
                  <a:srgbClr val="FFFFFF"/>
                </a:solidFill>
              </a:rPr>
              <a:t>CALCUL NUMERIC</a:t>
            </a:r>
          </a:p>
        </p:txBody>
      </p:sp>
      <p:sp>
        <p:nvSpPr>
          <p:cNvPr id="9219" name="Subtitle 2"/>
          <p:cNvSpPr>
            <a:spLocks noGrp="1"/>
          </p:cNvSpPr>
          <p:nvPr>
            <p:ph type="subTitle" idx="1"/>
          </p:nvPr>
        </p:nvSpPr>
        <p:spPr>
          <a:xfrm>
            <a:off x="997743" y="4305300"/>
            <a:ext cx="7188994" cy="1454150"/>
          </a:xfrm>
        </p:spPr>
        <p:txBody>
          <a:bodyPr>
            <a:normAutofit/>
          </a:bodyPr>
          <a:lstStyle/>
          <a:p>
            <a:pPr marR="0" eaLnBrk="1" hangingPunct="1"/>
            <a:r>
              <a:rPr lang="en-GB" sz="2800" b="1" dirty="0"/>
              <a:t>Curs </a:t>
            </a:r>
            <a:r>
              <a:rPr lang="en-GB" sz="2800" b="1" dirty="0" err="1"/>
              <a:t>pentru</a:t>
            </a:r>
            <a:r>
              <a:rPr lang="en-GB" sz="2800" b="1" dirty="0"/>
              <a:t> </a:t>
            </a:r>
            <a:r>
              <a:rPr lang="en-GB" sz="2800" b="1" dirty="0" err="1"/>
              <a:t>anul</a:t>
            </a:r>
            <a:r>
              <a:rPr lang="en-GB" sz="2800" b="1" dirty="0"/>
              <a:t> I</a:t>
            </a:r>
          </a:p>
          <a:p>
            <a:pPr marR="0" eaLnBrk="1" hangingPunct="1"/>
            <a:r>
              <a:rPr lang="en-GB" sz="2800" b="1" dirty="0" err="1"/>
              <a:t>Facultatea</a:t>
            </a:r>
            <a:r>
              <a:rPr lang="en-GB" sz="2800" b="1" dirty="0"/>
              <a:t> de Informatica</a:t>
            </a:r>
          </a:p>
        </p:txBody>
      </p:sp>
      <p:sp>
        <p:nvSpPr>
          <p:cNvPr id="9220" name="TextBox 3"/>
          <p:cNvSpPr txBox="1">
            <a:spLocks noChangeArrowheads="1"/>
          </p:cNvSpPr>
          <p:nvPr/>
        </p:nvSpPr>
        <p:spPr bwMode="auto">
          <a:xfrm>
            <a:off x="6051772" y="6277132"/>
            <a:ext cx="2584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latin typeface="Lucida Sans Unicode" pitchFamily="34" charset="0"/>
              </a:rPr>
              <a:t> </a:t>
            </a:r>
            <a:endParaRPr lang="en-GB">
              <a:latin typeface="Lucida Sans Unicode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B1312BC-EF66-EA5E-6F03-C3E391868048}"/>
                  </a:ext>
                </a:extLst>
              </p14:cNvPr>
              <p14:cNvContentPartPr/>
              <p14:nvPr/>
            </p14:nvContentPartPr>
            <p14:xfrm>
              <a:off x="3098160" y="443880"/>
              <a:ext cx="180000" cy="171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B1312BC-EF66-EA5E-6F03-C3E3918680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88800" y="434520"/>
                <a:ext cx="198720" cy="190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Down Arrow 7">
            <a:extLst>
              <a:ext uri="{FF2B5EF4-FFF2-40B4-BE49-F238E27FC236}">
                <a16:creationId xmlns:a16="http://schemas.microsoft.com/office/drawing/2014/main" id="{73DE2CFE-42F2-48F0-8706-5264E012B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91352" y="799217"/>
            <a:ext cx="2200313" cy="2506881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5214" y="1204108"/>
            <a:ext cx="2002054" cy="1781175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2800">
                <a:solidFill>
                  <a:srgbClr val="FFFFFF"/>
                </a:solidFill>
              </a:rPr>
              <a:t>Evaluarea studentilor</a:t>
            </a:r>
          </a:p>
        </p:txBody>
      </p:sp>
      <p:sp>
        <p:nvSpPr>
          <p:cNvPr id="12290" name="Content Placeholder 1"/>
          <p:cNvSpPr>
            <a:spLocks noGrp="1"/>
          </p:cNvSpPr>
          <p:nvPr>
            <p:ph idx="1"/>
          </p:nvPr>
        </p:nvSpPr>
        <p:spPr>
          <a:xfrm>
            <a:off x="725213" y="3355130"/>
            <a:ext cx="2002055" cy="2427333"/>
          </a:xfrm>
        </p:spPr>
        <p:txBody>
          <a:bodyPr>
            <a:normAutofit/>
          </a:bodyPr>
          <a:lstStyle/>
          <a:p>
            <a:pPr eaLnBrk="1" hangingPunct="1"/>
            <a:r>
              <a:rPr lang="fr-FR" sz="1400"/>
              <a:t>Stabilirea notei finale (in procente):</a:t>
            </a:r>
          </a:p>
          <a:p>
            <a:pPr eaLnBrk="1" hangingPunct="1">
              <a:buFont typeface="Wingdings 3" pitchFamily="18" charset="2"/>
              <a:buNone/>
            </a:pPr>
            <a:endParaRPr lang="en-GB" sz="1400"/>
          </a:p>
          <a:p>
            <a:pPr eaLnBrk="1" hangingPunct="1"/>
            <a:endParaRPr lang="en-GB" sz="140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749838"/>
              </p:ext>
            </p:extLst>
          </p:nvPr>
        </p:nvGraphicFramePr>
        <p:xfrm>
          <a:off x="3496576" y="1420316"/>
          <a:ext cx="5177793" cy="3894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3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4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6226">
                <a:tc>
                  <a:txBody>
                    <a:bodyPr/>
                    <a:lstStyle/>
                    <a:p>
                      <a:r>
                        <a:rPr lang="en-GB" sz="2000"/>
                        <a:t>Metoda</a:t>
                      </a:r>
                      <a:r>
                        <a:rPr lang="en-GB" sz="2000" baseline="0"/>
                        <a:t> de testare</a:t>
                      </a:r>
                      <a:endParaRPr lang="en-GB" sz="2000"/>
                    </a:p>
                  </a:txBody>
                  <a:tcPr marL="101415" marR="101415" marT="50707" marB="50707"/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Punctaj</a:t>
                      </a:r>
                    </a:p>
                  </a:txBody>
                  <a:tcPr marL="101415" marR="101415" marT="50707" marB="5070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47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2000" dirty="0"/>
                        <a:t>E</a:t>
                      </a:r>
                      <a:r>
                        <a:rPr lang="fr-FR" sz="2000" dirty="0" err="1"/>
                        <a:t>xamenul</a:t>
                      </a:r>
                      <a:r>
                        <a:rPr lang="fr-FR" sz="2000" dirty="0"/>
                        <a:t> final:                           </a:t>
                      </a:r>
                      <a:endParaRPr lang="en-GB" sz="2000" dirty="0"/>
                    </a:p>
                  </a:txBody>
                  <a:tcPr marL="101415" marR="101415" marT="50707" marB="5070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7</a:t>
                      </a:r>
                      <a:r>
                        <a:rPr lang="fr-FR" sz="2000" dirty="0"/>
                        <a:t>0%</a:t>
                      </a:r>
                      <a:endParaRPr lang="en-GB" sz="2000" dirty="0"/>
                    </a:p>
                    <a:p>
                      <a:endParaRPr lang="en-GB" sz="2000" dirty="0"/>
                    </a:p>
                  </a:txBody>
                  <a:tcPr marL="101415" marR="101415" marT="50707" marB="5070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47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2000" dirty="0"/>
                        <a:t>A</a:t>
                      </a:r>
                      <a:r>
                        <a:rPr lang="fr-FR" sz="2000" dirty="0" err="1"/>
                        <a:t>ctivitatea</a:t>
                      </a:r>
                      <a:r>
                        <a:rPr lang="fr-FR" sz="2000" dirty="0"/>
                        <a:t> la </a:t>
                      </a:r>
                      <a:r>
                        <a:rPr lang="fr-FR" sz="2000" dirty="0" err="1"/>
                        <a:t>laborator</a:t>
                      </a:r>
                      <a:r>
                        <a:rPr lang="fr-FR" sz="2000" dirty="0"/>
                        <a:t>:  </a:t>
                      </a:r>
                      <a:endParaRPr lang="en-GB" sz="2000" dirty="0"/>
                    </a:p>
                    <a:p>
                      <a:endParaRPr lang="en-GB" sz="2000" dirty="0"/>
                    </a:p>
                  </a:txBody>
                  <a:tcPr marL="101415" marR="101415" marT="50707" marB="5070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/>
                        <a:t>20%</a:t>
                      </a:r>
                      <a:endParaRPr lang="en-GB" sz="2000" dirty="0"/>
                    </a:p>
                  </a:txBody>
                  <a:tcPr marL="101415" marR="101415" marT="50707" marB="5070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226">
                <a:tc>
                  <a:txBody>
                    <a:bodyPr/>
                    <a:lstStyle/>
                    <a:p>
                      <a:r>
                        <a:rPr lang="ro-RO" sz="2000" dirty="0"/>
                        <a:t>Teme:</a:t>
                      </a:r>
                      <a:endParaRPr lang="en-GB" sz="2000" dirty="0"/>
                    </a:p>
                  </a:txBody>
                  <a:tcPr marL="101415" marR="101415" marT="50707" marB="50707"/>
                </a:tc>
                <a:tc>
                  <a:txBody>
                    <a:bodyPr/>
                    <a:lstStyle/>
                    <a:p>
                      <a:r>
                        <a:rPr lang="ro-RO" sz="2000" dirty="0"/>
                        <a:t>10%</a:t>
                      </a:r>
                      <a:endParaRPr lang="en-GB" sz="2000" dirty="0"/>
                    </a:p>
                  </a:txBody>
                  <a:tcPr marL="101415" marR="101415" marT="50707" marB="5070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0470">
                <a:tc>
                  <a:txBody>
                    <a:bodyPr/>
                    <a:lstStyle/>
                    <a:p>
                      <a:r>
                        <a:rPr lang="ro-RO" sz="2000" dirty="0"/>
                        <a:t>Prezenta curs + laborator</a:t>
                      </a:r>
                      <a:r>
                        <a:rPr lang="en-US" sz="2000" dirty="0"/>
                        <a:t>:</a:t>
                      </a:r>
                      <a:endParaRPr lang="en-GB" sz="2000" dirty="0"/>
                    </a:p>
                  </a:txBody>
                  <a:tcPr marL="101415" marR="101415" marT="50707" marB="5070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/>
                        <a:t>+10%</a:t>
                      </a:r>
                      <a:endParaRPr lang="en-GB" sz="2000" dirty="0"/>
                    </a:p>
                  </a:txBody>
                  <a:tcPr marL="101415" marR="101415" marT="50707" marB="50707"/>
                </a:tc>
                <a:extLst>
                  <a:ext uri="{0D108BD9-81ED-4DB2-BD59-A6C34878D82A}">
                    <a16:rowId xmlns:a16="http://schemas.microsoft.com/office/drawing/2014/main" val="1782475472"/>
                  </a:ext>
                </a:extLst>
              </a:tr>
              <a:tr h="750470">
                <a:tc>
                  <a:txBody>
                    <a:bodyPr/>
                    <a:lstStyle/>
                    <a:p>
                      <a:r>
                        <a:rPr lang="en-US" sz="2000" dirty="0" err="1"/>
                        <a:t>Probleme</a:t>
                      </a:r>
                      <a:r>
                        <a:rPr lang="en-US" sz="2000" dirty="0"/>
                        <a:t> MATLAB Cody:</a:t>
                      </a:r>
                      <a:endParaRPr lang="en-GB" sz="2000" dirty="0"/>
                    </a:p>
                  </a:txBody>
                  <a:tcPr marL="101415" marR="101415" marT="50707" marB="5070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/>
                        <a:t>+20%</a:t>
                      </a:r>
                      <a:endParaRPr lang="en-GB" sz="2000" dirty="0"/>
                    </a:p>
                    <a:p>
                      <a:endParaRPr lang="en-GB" sz="2000" dirty="0"/>
                    </a:p>
                  </a:txBody>
                  <a:tcPr marL="101415" marR="101415" marT="50707" marB="5070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086A83-5204-D456-8061-47B616978258}"/>
                  </a:ext>
                </a:extLst>
              </p14:cNvPr>
              <p14:cNvContentPartPr/>
              <p14:nvPr/>
            </p14:nvContentPartPr>
            <p14:xfrm>
              <a:off x="3724200" y="5298840"/>
              <a:ext cx="1044360" cy="311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086A83-5204-D456-8061-47B6169782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14840" y="5289480"/>
                <a:ext cx="1063080" cy="330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5472122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 err="1"/>
              <a:t>Continutul</a:t>
            </a:r>
            <a:r>
              <a:rPr lang="en-GB" dirty="0"/>
              <a:t> </a:t>
            </a:r>
            <a:r>
              <a:rPr lang="en-GB" dirty="0" err="1"/>
              <a:t>cursului</a:t>
            </a:r>
            <a:br>
              <a:rPr lang="en-GB" dirty="0"/>
            </a:br>
            <a:endParaRPr lang="en-GB" sz="3600" i="1" dirty="0"/>
          </a:p>
        </p:txBody>
      </p:sp>
      <p:sp>
        <p:nvSpPr>
          <p:cNvPr id="13314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543925" cy="5091112"/>
          </a:xfrm>
        </p:spPr>
        <p:txBody>
          <a:bodyPr>
            <a:normAutofit fontScale="47500" lnSpcReduction="20000"/>
          </a:bodyPr>
          <a:lstStyle/>
          <a:p>
            <a:pPr lvl="0"/>
            <a:r>
              <a:rPr lang="ro-RO" sz="3200" u="sng" dirty="0"/>
              <a:t>Introducere </a:t>
            </a:r>
            <a:endParaRPr lang="en-US" sz="3200" dirty="0"/>
          </a:p>
          <a:p>
            <a:r>
              <a:rPr lang="ro-RO" sz="3200" dirty="0"/>
              <a:t>Erori, Erori absolute şi erori relative. Propagarea erorilor. Probleme bine </a:t>
            </a:r>
            <a:endParaRPr lang="en-US" sz="3200" dirty="0"/>
          </a:p>
          <a:p>
            <a:r>
              <a:rPr lang="ro-RO" sz="3200" dirty="0"/>
              <a:t>condiţionate numeric. Stabilitatea problemelor numerice. </a:t>
            </a:r>
            <a:endParaRPr lang="en-US" sz="3200" dirty="0"/>
          </a:p>
          <a:p>
            <a:endParaRPr lang="en-US" sz="3200" dirty="0"/>
          </a:p>
          <a:p>
            <a:pPr lvl="0"/>
            <a:r>
              <a:rPr lang="ro-RO" sz="3200" u="sng" dirty="0"/>
              <a:t>Metode numerice pentru rezolvare ecuatiilor si a sistemelor de ecuatii neliniare</a:t>
            </a:r>
            <a:r>
              <a:rPr lang="ro-RO" sz="3200" dirty="0"/>
              <a:t>        </a:t>
            </a:r>
            <a:endParaRPr lang="en-US" sz="3200" dirty="0"/>
          </a:p>
          <a:p>
            <a:r>
              <a:rPr lang="ro-RO" sz="3200" dirty="0"/>
              <a:t>Metoda bisectiei, metoda punctului fix, metoda tangentei si metoda secantei, schema lui Horner</a:t>
            </a:r>
            <a:endParaRPr lang="en-US" sz="3200" dirty="0"/>
          </a:p>
          <a:p>
            <a:r>
              <a:rPr lang="ro-RO" sz="3200" dirty="0"/>
              <a:t>         </a:t>
            </a:r>
            <a:endParaRPr lang="en-US" sz="3200" dirty="0"/>
          </a:p>
          <a:p>
            <a:pPr lvl="0"/>
            <a:r>
              <a:rPr lang="ro-RO" sz="3200" u="sng" dirty="0"/>
              <a:t>Metode numerice pentru rezolvare sistemelor de ecuatii liniare</a:t>
            </a:r>
            <a:r>
              <a:rPr lang="ro-RO" sz="3200" dirty="0"/>
              <a:t>     </a:t>
            </a:r>
            <a:endParaRPr lang="en-US" sz="3200" dirty="0"/>
          </a:p>
          <a:p>
            <a:r>
              <a:rPr lang="ro-RO" sz="3200" dirty="0"/>
              <a:t>Eliminare Gauss-Jordan, factorizarea LU</a:t>
            </a:r>
            <a:endParaRPr lang="en-US" sz="3200" dirty="0"/>
          </a:p>
          <a:p>
            <a:r>
              <a:rPr lang="ro-RO" sz="3200" dirty="0"/>
              <a:t>Metode iterative: Metodele Jacobi si Gauss- Seidel.</a:t>
            </a:r>
            <a:endParaRPr lang="en-US" sz="3200" dirty="0"/>
          </a:p>
          <a:p>
            <a:r>
              <a:rPr lang="en-GB" sz="3200" dirty="0"/>
              <a:t> </a:t>
            </a:r>
            <a:endParaRPr lang="en-US" sz="3200" dirty="0"/>
          </a:p>
          <a:p>
            <a:pPr lvl="0"/>
            <a:r>
              <a:rPr lang="ro-RO" sz="3200" u="sng" dirty="0"/>
              <a:t>Interpolare</a:t>
            </a:r>
            <a:r>
              <a:rPr lang="ro-RO" sz="3200" dirty="0"/>
              <a:t> </a:t>
            </a:r>
            <a:endParaRPr lang="en-US" sz="3200" dirty="0"/>
          </a:p>
          <a:p>
            <a:r>
              <a:rPr lang="ro-RO" sz="3200" dirty="0"/>
              <a:t>Polinomul de interpolare Lagrange. Algoritmul lui Neville. Diferenţe divizate. Polinomul de interpolare Newton. </a:t>
            </a:r>
            <a:endParaRPr lang="en-US" sz="3200" dirty="0"/>
          </a:p>
          <a:p>
            <a:pPr>
              <a:buNone/>
            </a:pPr>
            <a:r>
              <a:rPr lang="ro-RO" sz="3200" dirty="0"/>
              <a:t> </a:t>
            </a:r>
            <a:endParaRPr lang="en-US" sz="3200" dirty="0"/>
          </a:p>
          <a:p>
            <a:pPr lvl="0"/>
            <a:r>
              <a:rPr lang="ro-RO" sz="3200" u="sng" dirty="0"/>
              <a:t>Integrare numerica</a:t>
            </a:r>
            <a:r>
              <a:rPr lang="ro-RO" sz="3200" dirty="0"/>
              <a:t> </a:t>
            </a:r>
            <a:endParaRPr lang="en-US" sz="3200" dirty="0"/>
          </a:p>
          <a:p>
            <a:r>
              <a:rPr lang="ro-RO" sz="3200" dirty="0"/>
              <a:t>Formulele Newton-Cotes:  metoda trapezului, regula lui Simpson; cuadratura Gauss</a:t>
            </a:r>
            <a:endParaRPr lang="en-US" sz="3200" dirty="0"/>
          </a:p>
          <a:p>
            <a:endParaRPr lang="en-US" sz="3200" dirty="0"/>
          </a:p>
          <a:p>
            <a:r>
              <a:rPr lang="en-US" sz="3800" dirty="0">
                <a:solidFill>
                  <a:srgbClr val="0070C0"/>
                </a:solidFill>
              </a:rPr>
              <a:t>LABORATOR</a:t>
            </a:r>
          </a:p>
          <a:p>
            <a:r>
              <a:rPr lang="en-US" sz="3800" dirty="0" err="1">
                <a:solidFill>
                  <a:srgbClr val="0070C0"/>
                </a:solidFill>
              </a:rPr>
              <a:t>Implementarea</a:t>
            </a:r>
            <a:r>
              <a:rPr lang="en-US" sz="3800" dirty="0">
                <a:solidFill>
                  <a:srgbClr val="0070C0"/>
                </a:solidFill>
              </a:rPr>
              <a:t> </a:t>
            </a:r>
            <a:r>
              <a:rPr lang="en-US" sz="3800" dirty="0" err="1">
                <a:solidFill>
                  <a:srgbClr val="0070C0"/>
                </a:solidFill>
              </a:rPr>
              <a:t>algoritmilor</a:t>
            </a:r>
            <a:r>
              <a:rPr lang="en-US" sz="3800" dirty="0">
                <a:solidFill>
                  <a:srgbClr val="0070C0"/>
                </a:solidFill>
              </a:rPr>
              <a:t> </a:t>
            </a:r>
            <a:r>
              <a:rPr lang="en-US" sz="3800" dirty="0" err="1">
                <a:solidFill>
                  <a:srgbClr val="0070C0"/>
                </a:solidFill>
              </a:rPr>
              <a:t>folosind</a:t>
            </a:r>
            <a:r>
              <a:rPr lang="en-US" sz="3800" dirty="0">
                <a:solidFill>
                  <a:srgbClr val="0070C0"/>
                </a:solidFill>
              </a:rPr>
              <a:t> MATLAB/octave online.</a:t>
            </a:r>
          </a:p>
          <a:p>
            <a:endParaRPr lang="en-US" sz="3200" dirty="0"/>
          </a:p>
          <a:p>
            <a:pPr eaLnBrk="1" hangingPunct="1">
              <a:buFont typeface="Wingdings 3" pitchFamily="18" charset="2"/>
              <a:buNone/>
            </a:pPr>
            <a:endParaRPr lang="en-GB" sz="2600" dirty="0"/>
          </a:p>
          <a:p>
            <a:pPr eaLnBrk="1" hangingPunct="1"/>
            <a:endParaRPr lang="en-GB" dirty="0"/>
          </a:p>
        </p:txBody>
      </p:sp>
      <p:pic>
        <p:nvPicPr>
          <p:cNvPr id="13316" name="Picture 2" descr="C:\Documents and Settings\cezar\Local Settings\Temporary Internet Files\Content.IE5\377X74RZ\MCj0413486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88224" y="260648"/>
            <a:ext cx="2370138" cy="175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Continutul</a:t>
            </a:r>
            <a:r>
              <a:rPr lang="en-US" dirty="0"/>
              <a:t> </a:t>
            </a:r>
            <a:r>
              <a:rPr lang="en-US" dirty="0" err="1"/>
              <a:t>laboratorului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39552" y="1484784"/>
            <a:ext cx="4040188" cy="395128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metodelor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MATLAB.</a:t>
            </a:r>
          </a:p>
          <a:p>
            <a:r>
              <a:rPr lang="en-US" dirty="0"/>
              <a:t>MATLAB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pachet</a:t>
            </a:r>
            <a:r>
              <a:rPr lang="en-US" dirty="0"/>
              <a:t> de </a:t>
            </a:r>
            <a:r>
              <a:rPr lang="en-US" dirty="0" err="1"/>
              <a:t>programe</a:t>
            </a:r>
            <a:r>
              <a:rPr lang="en-US" dirty="0"/>
              <a:t> cu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functii</a:t>
            </a:r>
            <a:r>
              <a:rPr lang="en-US" dirty="0"/>
              <a:t> de tip built-in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cu </a:t>
            </a:r>
            <a:r>
              <a:rPr lang="en-US" dirty="0" err="1"/>
              <a:t>posibilitatea</a:t>
            </a:r>
            <a:r>
              <a:rPr lang="en-US" dirty="0"/>
              <a:t> de </a:t>
            </a:r>
            <a:r>
              <a:rPr lang="en-US" dirty="0" err="1"/>
              <a:t>creare</a:t>
            </a:r>
            <a:r>
              <a:rPr lang="en-US" dirty="0"/>
              <a:t> a </a:t>
            </a:r>
            <a:r>
              <a:rPr lang="en-US" dirty="0" err="1"/>
              <a:t>programelor</a:t>
            </a:r>
            <a:r>
              <a:rPr lang="en-US" dirty="0"/>
              <a:t> </a:t>
            </a:r>
            <a:r>
              <a:rPr lang="en-US" dirty="0" err="1"/>
              <a:t>proprii</a:t>
            </a:r>
            <a:r>
              <a:rPr lang="en-US" dirty="0"/>
              <a:t> care permit </a:t>
            </a:r>
            <a:r>
              <a:rPr lang="en-US" dirty="0" err="1"/>
              <a:t>invatarea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usoara</a:t>
            </a:r>
            <a:r>
              <a:rPr lang="en-US" dirty="0"/>
              <a:t> a </a:t>
            </a:r>
            <a:r>
              <a:rPr lang="en-US" dirty="0" err="1"/>
              <a:t>metodelor</a:t>
            </a:r>
            <a:r>
              <a:rPr lang="en-US" dirty="0"/>
              <a:t> </a:t>
            </a:r>
            <a:r>
              <a:rPr lang="en-US" dirty="0" err="1"/>
              <a:t>numerice</a:t>
            </a:r>
            <a:r>
              <a:rPr lang="en-US" dirty="0"/>
              <a:t>.</a:t>
            </a:r>
          </a:p>
          <a:p>
            <a:r>
              <a:rPr lang="en-US" dirty="0"/>
              <a:t>MATLAB (</a:t>
            </a:r>
            <a:r>
              <a:rPr lang="en-US" u="sng" dirty="0"/>
              <a:t>mat</a:t>
            </a:r>
            <a:r>
              <a:rPr lang="en-US" dirty="0"/>
              <a:t>rix </a:t>
            </a:r>
            <a:r>
              <a:rPr lang="en-US" u="sng" dirty="0"/>
              <a:t>lab</a:t>
            </a:r>
            <a:r>
              <a:rPr lang="en-US" dirty="0"/>
              <a:t>oratory) </a:t>
            </a:r>
            <a:r>
              <a:rPr lang="en-US" dirty="0" err="1"/>
              <a:t>este</a:t>
            </a:r>
            <a:r>
              <a:rPr lang="en-US" dirty="0"/>
              <a:t> special </a:t>
            </a:r>
            <a:r>
              <a:rPr lang="en-US" dirty="0" err="1"/>
              <a:t>creat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lucra</a:t>
            </a:r>
            <a:r>
              <a:rPr lang="en-US" dirty="0"/>
              <a:t> cu </a:t>
            </a:r>
            <a:r>
              <a:rPr lang="en-US" dirty="0" err="1"/>
              <a:t>matrici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vectori</a:t>
            </a:r>
            <a:r>
              <a:rPr lang="en-US" dirty="0"/>
              <a:t>.</a:t>
            </a:r>
            <a:endParaRPr lang="ro-RO" dirty="0"/>
          </a:p>
          <a:p>
            <a:endParaRPr lang="en-US" dirty="0"/>
          </a:p>
        </p:txBody>
      </p:sp>
      <p:pic>
        <p:nvPicPr>
          <p:cNvPr id="7" name="Content Placeholder 6" descr="bg_header_mwlogo_notag.jpg"/>
          <p:cNvPicPr>
            <a:picLocks noGrp="1" noChangeAspect="1"/>
          </p:cNvPicPr>
          <p:nvPr>
            <p:ph sz="quarter" idx="4"/>
          </p:nvPr>
        </p:nvPicPr>
        <p:blipFill>
          <a:blip r:embed="rId2" cstate="print"/>
          <a:stretch>
            <a:fillRect/>
          </a:stretch>
        </p:blipFill>
        <p:spPr>
          <a:xfrm>
            <a:off x="4860032" y="2420888"/>
            <a:ext cx="3668288" cy="962174"/>
          </a:xfr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5949280"/>
            <a:ext cx="8208911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08AB0B-7E63-44F1-B2A0-A94C8CD32C67}"/>
              </a:ext>
            </a:extLst>
          </p:cNvPr>
          <p:cNvSpPr txBox="1"/>
          <p:nvPr/>
        </p:nvSpPr>
        <p:spPr>
          <a:xfrm>
            <a:off x="4408176" y="534932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/>
              </a:rPr>
              <a:t>https://www.mathworks.com/products/matlab.html</a:t>
            </a:r>
            <a:endParaRPr lang="en-US" sz="1400" dirty="0"/>
          </a:p>
          <a:p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072" y="470925"/>
            <a:ext cx="3285756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531E1B-A55C-4E0C-81B6-B583D7C3F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71" y="1012004"/>
            <a:ext cx="2562119" cy="479540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Variante open source - Matlab</a:t>
            </a:r>
          </a:p>
        </p:txBody>
      </p: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F9140190-8992-46C3-BB14-7BD5011E92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7942247"/>
              </p:ext>
            </p:extLst>
          </p:nvPr>
        </p:nvGraphicFramePr>
        <p:xfrm>
          <a:off x="3895725" y="470924"/>
          <a:ext cx="4885203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6689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dirty="0"/>
              <a:t>BIBLIOGRAFIE RECOMANDATA</a:t>
            </a:r>
            <a:endParaRPr lang="en-GB" dirty="0"/>
          </a:p>
        </p:txBody>
      </p:sp>
      <p:sp>
        <p:nvSpPr>
          <p:cNvPr id="22530" name="Content Placeholder 1"/>
          <p:cNvSpPr>
            <a:spLocks noGrp="1"/>
          </p:cNvSpPr>
          <p:nvPr>
            <p:ph idx="1"/>
          </p:nvPr>
        </p:nvSpPr>
        <p:spPr>
          <a:xfrm>
            <a:off x="539552" y="1268760"/>
            <a:ext cx="8229600" cy="5328592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Daniela Joita, </a:t>
            </a:r>
            <a:r>
              <a:rPr lang="ro-RO" i="1" dirty="0"/>
              <a:t>Calcul numeric</a:t>
            </a:r>
            <a:r>
              <a:rPr lang="en-US" dirty="0"/>
              <a:t>, </a:t>
            </a:r>
            <a:r>
              <a:rPr lang="en-US" dirty="0" err="1"/>
              <a:t>suport</a:t>
            </a:r>
            <a:r>
              <a:rPr lang="en-US" dirty="0"/>
              <a:t> de curs </a:t>
            </a:r>
            <a:r>
              <a:rPr lang="en-US" dirty="0" err="1"/>
              <a:t>pentru</a:t>
            </a:r>
            <a:r>
              <a:rPr lang="en-US" dirty="0"/>
              <a:t> ID, format electronic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George Lindfield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John Penny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ro-RO" dirty="0"/>
              <a:t> </a:t>
            </a:r>
            <a:r>
              <a:rPr lang="en-GB" i="1" dirty="0"/>
              <a:t>Numerical Methods Using MATLAB, </a:t>
            </a:r>
            <a:r>
              <a:rPr lang="ro-RO" i="1" dirty="0" err="1"/>
              <a:t>editia</a:t>
            </a:r>
            <a:r>
              <a:rPr lang="ro-RO" i="1" dirty="0"/>
              <a:t> a 4-a</a:t>
            </a:r>
            <a:r>
              <a:rPr lang="ro-RO" b="0" dirty="0">
                <a:solidFill>
                  <a:srgbClr val="C04C0B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GB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Academic Press</a:t>
            </a:r>
            <a:r>
              <a:rPr lang="en-GB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 2019</a:t>
            </a:r>
            <a:endParaRPr lang="en-GB" b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o-RO" dirty="0"/>
              <a:t>W. H. Press, B. P. Flannery, S. A. Teukolsky, W. T. Vetterling: </a:t>
            </a:r>
            <a:r>
              <a:rPr lang="ro-RO" i="1" dirty="0"/>
              <a:t>Numerical recipes in C. The art of scientific computing</a:t>
            </a:r>
            <a:r>
              <a:rPr lang="ro-RO" dirty="0"/>
              <a:t>, </a:t>
            </a:r>
            <a:r>
              <a:rPr lang="ro-RO" dirty="0" err="1"/>
              <a:t>editia</a:t>
            </a:r>
            <a:r>
              <a:rPr lang="ro-RO" dirty="0"/>
              <a:t> a 3-a, Cambridge University Press, 2007</a:t>
            </a:r>
            <a:endParaRPr lang="en-US" dirty="0"/>
          </a:p>
          <a:p>
            <a:pPr lvl="0"/>
            <a:r>
              <a:rPr lang="ro-RO" dirty="0"/>
              <a:t>Singiresu S. Rao, </a:t>
            </a:r>
            <a:r>
              <a:rPr lang="ro-RO" i="1" dirty="0"/>
              <a:t>Applied numerical methods for engineers and Scientists</a:t>
            </a:r>
            <a:r>
              <a:rPr lang="ro-RO" dirty="0"/>
              <a:t>, Prentice Hall 2002</a:t>
            </a:r>
            <a:endParaRPr lang="en-US" dirty="0"/>
          </a:p>
          <a:p>
            <a:pPr lvl="0"/>
            <a:r>
              <a:rPr lang="ro-RO" dirty="0">
                <a:hlinkClick r:id="rId2"/>
              </a:rPr>
              <a:t>http://www.mathworks.com/products/matlab/</a:t>
            </a:r>
            <a:endParaRPr lang="en-US" dirty="0"/>
          </a:p>
          <a:p>
            <a:pPr eaLnBrk="1" hangingPunct="1"/>
            <a:r>
              <a:rPr lang="en-GB" dirty="0"/>
              <a:t>……</a:t>
            </a:r>
            <a:r>
              <a:rPr lang="en-GB" dirty="0" err="1"/>
              <a:t>multe</a:t>
            </a:r>
            <a:r>
              <a:rPr lang="en-GB" dirty="0"/>
              <a:t> </a:t>
            </a:r>
            <a:r>
              <a:rPr lang="en-GB" dirty="0" err="1"/>
              <a:t>alte</a:t>
            </a:r>
            <a:r>
              <a:rPr lang="en-GB" dirty="0"/>
              <a:t> </a:t>
            </a:r>
            <a:r>
              <a:rPr lang="en-GB" dirty="0" err="1"/>
              <a:t>surse</a:t>
            </a:r>
            <a:r>
              <a:rPr lang="en-GB" dirty="0"/>
              <a:t> </a:t>
            </a:r>
            <a:r>
              <a:rPr lang="en-GB" dirty="0" err="1"/>
              <a:t>bibliografice</a:t>
            </a:r>
            <a:r>
              <a:rPr lang="en-GB" dirty="0"/>
              <a:t> de pe Web</a:t>
            </a:r>
          </a:p>
          <a:p>
            <a:pPr eaLnBrk="1" hangingPunct="1"/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Introducere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68760"/>
            <a:ext cx="8382000" cy="5208240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Calculul</a:t>
            </a:r>
            <a:r>
              <a:rPr lang="en-US" dirty="0">
                <a:solidFill>
                  <a:srgbClr val="FF0000"/>
                </a:solidFill>
              </a:rPr>
              <a:t> numeric </a:t>
            </a:r>
            <a:r>
              <a:rPr lang="en-US" dirty="0"/>
              <a:t>se </a:t>
            </a:r>
            <a:r>
              <a:rPr lang="en-US" dirty="0" err="1"/>
              <a:t>ocupa</a:t>
            </a:r>
            <a:r>
              <a:rPr lang="en-US" dirty="0"/>
              <a:t> cu </a:t>
            </a:r>
            <a:r>
              <a:rPr lang="en-US" dirty="0" err="1"/>
              <a:t>studiul</a:t>
            </a:r>
            <a:r>
              <a:rPr lang="en-US" dirty="0"/>
              <a:t> </a:t>
            </a:r>
            <a:r>
              <a:rPr lang="en-US" dirty="0" err="1"/>
              <a:t>metodelor</a:t>
            </a:r>
            <a:r>
              <a:rPr lang="en-US" dirty="0"/>
              <a:t> de </a:t>
            </a:r>
            <a:r>
              <a:rPr lang="en-US" dirty="0" err="1"/>
              <a:t>rezolvare</a:t>
            </a:r>
            <a:r>
              <a:rPr lang="en-US" dirty="0"/>
              <a:t> a </a:t>
            </a:r>
            <a:r>
              <a:rPr lang="en-US" dirty="0" err="1"/>
              <a:t>problemelor</a:t>
            </a:r>
            <a:r>
              <a:rPr lang="en-US" dirty="0"/>
              <a:t> practice, </a:t>
            </a:r>
            <a:r>
              <a:rPr lang="en-US" dirty="0" err="1"/>
              <a:t>modelate</a:t>
            </a:r>
            <a:r>
              <a:rPr lang="en-US" dirty="0"/>
              <a:t> </a:t>
            </a:r>
            <a:r>
              <a:rPr lang="en-US" dirty="0" err="1"/>
              <a:t>matematic</a:t>
            </a:r>
            <a:r>
              <a:rPr lang="en-US" dirty="0"/>
              <a:t> care </a:t>
            </a:r>
            <a:r>
              <a:rPr lang="en-US" dirty="0" err="1"/>
              <a:t>implica</a:t>
            </a:r>
            <a:r>
              <a:rPr lang="en-US" dirty="0"/>
              <a:t> </a:t>
            </a:r>
            <a:r>
              <a:rPr lang="en-US" dirty="0" err="1"/>
              <a:t>rezolvarea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ec</a:t>
            </a:r>
            <a:r>
              <a:rPr lang="en-US" dirty="0"/>
              <a:t>,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sisteme</a:t>
            </a:r>
            <a:r>
              <a:rPr lang="en-US" dirty="0"/>
              <a:t> de </a:t>
            </a:r>
            <a:r>
              <a:rPr lang="en-US" dirty="0" err="1"/>
              <a:t>ec</a:t>
            </a:r>
            <a:r>
              <a:rPr lang="en-US" dirty="0"/>
              <a:t>, etc., </a:t>
            </a:r>
            <a:r>
              <a:rPr lang="en-US" dirty="0" err="1"/>
              <a:t>ce</a:t>
            </a:r>
            <a:r>
              <a:rPr lang="en-US" dirty="0"/>
              <a:t> nu pot fi </a:t>
            </a:r>
            <a:r>
              <a:rPr lang="en-US" dirty="0" err="1"/>
              <a:t>rezolvate</a:t>
            </a:r>
            <a:r>
              <a:rPr lang="en-US" dirty="0"/>
              <a:t> exact.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 err="1">
                <a:solidFill>
                  <a:srgbClr val="FF0000"/>
                </a:solidFill>
              </a:rPr>
              <a:t>Calculul</a:t>
            </a:r>
            <a:r>
              <a:rPr lang="en-US" dirty="0">
                <a:solidFill>
                  <a:srgbClr val="FF0000"/>
                </a:solidFill>
              </a:rPr>
              <a:t> numeric </a:t>
            </a:r>
            <a:r>
              <a:rPr lang="en-US" dirty="0"/>
              <a:t>nu </a:t>
            </a:r>
            <a:r>
              <a:rPr lang="en-US" dirty="0" err="1"/>
              <a:t>cauta</a:t>
            </a:r>
            <a:r>
              <a:rPr lang="en-US" dirty="0"/>
              <a:t> </a:t>
            </a:r>
            <a:r>
              <a:rPr lang="en-US" dirty="0" err="1"/>
              <a:t>solutii</a:t>
            </a:r>
            <a:r>
              <a:rPr lang="en-US" dirty="0"/>
              <a:t> </a:t>
            </a:r>
            <a:r>
              <a:rPr lang="en-US" dirty="0" err="1"/>
              <a:t>exacte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concentreaza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obtinerea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solutii</a:t>
            </a:r>
            <a:r>
              <a:rPr lang="en-US" dirty="0"/>
              <a:t> </a:t>
            </a:r>
            <a:r>
              <a:rPr lang="en-US" dirty="0" err="1"/>
              <a:t>aproximative</a:t>
            </a:r>
            <a:r>
              <a:rPr lang="en-US" dirty="0"/>
              <a:t> in </a:t>
            </a:r>
            <a:r>
              <a:rPr lang="en-US" dirty="0" err="1"/>
              <a:t>limita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erori</a:t>
            </a:r>
            <a:r>
              <a:rPr lang="en-US" dirty="0"/>
              <a:t> de </a:t>
            </a:r>
            <a:r>
              <a:rPr lang="en-US" dirty="0" err="1"/>
              <a:t>aproximare</a:t>
            </a:r>
            <a:r>
              <a:rPr lang="en-US" dirty="0"/>
              <a:t> cat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mici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ro-RO" dirty="0"/>
          </a:p>
        </p:txBody>
      </p:sp>
      <p:sp>
        <p:nvSpPr>
          <p:cNvPr id="4" name="Rectangle 3"/>
          <p:cNvSpPr/>
          <p:nvPr/>
        </p:nvSpPr>
        <p:spPr>
          <a:xfrm>
            <a:off x="1259632" y="2780928"/>
            <a:ext cx="1584176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practica</a:t>
            </a:r>
            <a:endParaRPr lang="ro-RO" dirty="0"/>
          </a:p>
        </p:txBody>
      </p:sp>
      <p:sp>
        <p:nvSpPr>
          <p:cNvPr id="5" name="Rectangle 4"/>
          <p:cNvSpPr/>
          <p:nvPr/>
        </p:nvSpPr>
        <p:spPr>
          <a:xfrm>
            <a:off x="4067944" y="2996952"/>
            <a:ext cx="151216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</a:t>
            </a:r>
            <a:r>
              <a:rPr lang="en-US" dirty="0" err="1"/>
              <a:t>matematic</a:t>
            </a:r>
            <a:endParaRPr lang="ro-RO" dirty="0"/>
          </a:p>
        </p:txBody>
      </p:sp>
      <p:sp>
        <p:nvSpPr>
          <p:cNvPr id="6" name="Rectangle 5"/>
          <p:cNvSpPr/>
          <p:nvPr/>
        </p:nvSpPr>
        <p:spPr>
          <a:xfrm>
            <a:off x="6516216" y="2636912"/>
            <a:ext cx="1944216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Rezolvare</a:t>
            </a:r>
            <a:r>
              <a:rPr lang="en-US" dirty="0"/>
              <a:t> de </a:t>
            </a:r>
            <a:r>
              <a:rPr lang="en-US" dirty="0" err="1"/>
              <a:t>ecuatii</a:t>
            </a:r>
            <a:r>
              <a:rPr lang="en-US" dirty="0"/>
              <a:t>, </a:t>
            </a:r>
            <a:r>
              <a:rPr lang="en-US" dirty="0" err="1"/>
              <a:t>sisteme</a:t>
            </a:r>
            <a:r>
              <a:rPr lang="en-US" dirty="0"/>
              <a:t> de </a:t>
            </a:r>
            <a:r>
              <a:rPr lang="en-US" dirty="0" err="1"/>
              <a:t>ecuatii</a:t>
            </a:r>
            <a:r>
              <a:rPr lang="en-US" dirty="0"/>
              <a:t>, </a:t>
            </a:r>
            <a:r>
              <a:rPr lang="en-US" dirty="0" err="1"/>
              <a:t>ecuatii</a:t>
            </a:r>
            <a:r>
              <a:rPr lang="en-US" dirty="0"/>
              <a:t> </a:t>
            </a:r>
            <a:r>
              <a:rPr lang="en-US" dirty="0" err="1"/>
              <a:t>diferentiale</a:t>
            </a:r>
            <a:r>
              <a:rPr lang="en-US" dirty="0"/>
              <a:t>, </a:t>
            </a:r>
            <a:r>
              <a:rPr lang="en-US" dirty="0" err="1"/>
              <a:t>integrale</a:t>
            </a:r>
            <a:r>
              <a:rPr lang="en-US" dirty="0"/>
              <a:t>, etc.</a:t>
            </a:r>
            <a:endParaRPr lang="ro-RO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843808" y="3140968"/>
            <a:ext cx="122413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580112" y="3212976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Introducere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Un aspect important al </a:t>
            </a:r>
            <a:r>
              <a:rPr lang="en-US" dirty="0" err="1"/>
              <a:t>aplicarii</a:t>
            </a:r>
            <a:r>
              <a:rPr lang="en-US" dirty="0"/>
              <a:t> </a:t>
            </a:r>
            <a:r>
              <a:rPr lang="en-US" dirty="0" err="1"/>
              <a:t>matematicii</a:t>
            </a:r>
            <a:r>
              <a:rPr lang="en-US" dirty="0"/>
              <a:t> in </a:t>
            </a:r>
            <a:r>
              <a:rPr lang="en-US" dirty="0" err="1"/>
              <a:t>rezolvarea</a:t>
            </a:r>
            <a:r>
              <a:rPr lang="en-US" dirty="0"/>
              <a:t> </a:t>
            </a:r>
            <a:r>
              <a:rPr lang="en-US" dirty="0" err="1"/>
              <a:t>problemelor</a:t>
            </a:r>
            <a:r>
              <a:rPr lang="en-US" dirty="0"/>
              <a:t> din </a:t>
            </a:r>
            <a:r>
              <a:rPr lang="en-US" dirty="0" err="1"/>
              <a:t>viata</a:t>
            </a:r>
            <a:r>
              <a:rPr lang="en-US" dirty="0"/>
              <a:t> </a:t>
            </a:r>
            <a:r>
              <a:rPr lang="en-US" dirty="0" err="1"/>
              <a:t>cotidiana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abilitatea</a:t>
            </a:r>
            <a:r>
              <a:rPr lang="en-US" dirty="0"/>
              <a:t> de a </a:t>
            </a:r>
            <a:r>
              <a:rPr lang="en-US" dirty="0" err="1"/>
              <a:t>gasi</a:t>
            </a:r>
            <a:r>
              <a:rPr lang="en-US" dirty="0"/>
              <a:t> </a:t>
            </a:r>
            <a:r>
              <a:rPr lang="en-US" dirty="0" err="1"/>
              <a:t>solutii</a:t>
            </a:r>
            <a:r>
              <a:rPr lang="en-US" dirty="0"/>
              <a:t> cat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apropiate</a:t>
            </a:r>
            <a:r>
              <a:rPr lang="en-US" dirty="0"/>
              <a:t> de </a:t>
            </a:r>
            <a:r>
              <a:rPr lang="en-US" dirty="0" err="1"/>
              <a:t>solutiile</a:t>
            </a:r>
            <a:r>
              <a:rPr lang="en-US" dirty="0"/>
              <a:t> </a:t>
            </a:r>
            <a:r>
              <a:rPr lang="en-US" dirty="0" err="1"/>
              <a:t>reale</a:t>
            </a:r>
            <a:r>
              <a:rPr lang="en-US" dirty="0"/>
              <a:t>.</a:t>
            </a:r>
          </a:p>
          <a:p>
            <a:r>
              <a:rPr lang="en-US" dirty="0" err="1"/>
              <a:t>Calculul</a:t>
            </a:r>
            <a:r>
              <a:rPr lang="en-US" dirty="0"/>
              <a:t> numeric se </a:t>
            </a:r>
            <a:r>
              <a:rPr lang="en-US" dirty="0" err="1"/>
              <a:t>ocupa</a:t>
            </a:r>
            <a:r>
              <a:rPr lang="en-US" dirty="0"/>
              <a:t> cu </a:t>
            </a:r>
          </a:p>
          <a:p>
            <a:pPr lvl="2"/>
            <a:r>
              <a:rPr lang="en-US" dirty="0" err="1"/>
              <a:t>descoperirea</a:t>
            </a:r>
            <a:endParaRPr lang="en-US" dirty="0"/>
          </a:p>
          <a:p>
            <a:pPr lvl="2"/>
            <a:r>
              <a:rPr lang="en-US" dirty="0" err="1"/>
              <a:t>analiza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implementarea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</a:t>
            </a:r>
            <a:r>
              <a:rPr lang="en-US" dirty="0" err="1">
                <a:solidFill>
                  <a:srgbClr val="FF0000"/>
                </a:solidFill>
              </a:rPr>
              <a:t>metodelor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numerice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Metodele</a:t>
            </a:r>
            <a:r>
              <a:rPr lang="en-US" dirty="0"/>
              <a:t> </a:t>
            </a:r>
            <a:r>
              <a:rPr lang="en-US" dirty="0" err="1"/>
              <a:t>numerice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algoritmi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ro-RO" dirty="0"/>
          </a:p>
        </p:txBody>
      </p:sp>
      <p:sp>
        <p:nvSpPr>
          <p:cNvPr id="4" name="Rectangle 3"/>
          <p:cNvSpPr/>
          <p:nvPr/>
        </p:nvSpPr>
        <p:spPr>
          <a:xfrm>
            <a:off x="1259632" y="2780928"/>
            <a:ext cx="1584176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practica</a:t>
            </a:r>
            <a:endParaRPr lang="ro-RO" dirty="0"/>
          </a:p>
        </p:txBody>
      </p:sp>
      <p:sp>
        <p:nvSpPr>
          <p:cNvPr id="5" name="Rectangle 4"/>
          <p:cNvSpPr/>
          <p:nvPr/>
        </p:nvSpPr>
        <p:spPr>
          <a:xfrm>
            <a:off x="4067944" y="2996952"/>
            <a:ext cx="151216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</a:t>
            </a:r>
            <a:r>
              <a:rPr lang="en-US" dirty="0" err="1"/>
              <a:t>matematic</a:t>
            </a:r>
            <a:endParaRPr lang="ro-RO" dirty="0"/>
          </a:p>
        </p:txBody>
      </p:sp>
      <p:sp>
        <p:nvSpPr>
          <p:cNvPr id="6" name="Rectangle 5"/>
          <p:cNvSpPr/>
          <p:nvPr/>
        </p:nvSpPr>
        <p:spPr>
          <a:xfrm>
            <a:off x="6516216" y="2636912"/>
            <a:ext cx="1944216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Rezolvare</a:t>
            </a:r>
            <a:r>
              <a:rPr lang="en-US" dirty="0"/>
              <a:t> de </a:t>
            </a:r>
            <a:r>
              <a:rPr lang="en-US" dirty="0" err="1"/>
              <a:t>ecuatii</a:t>
            </a:r>
            <a:r>
              <a:rPr lang="en-US" dirty="0"/>
              <a:t>, </a:t>
            </a:r>
            <a:r>
              <a:rPr lang="en-US" dirty="0" err="1"/>
              <a:t>sisteme</a:t>
            </a:r>
            <a:r>
              <a:rPr lang="en-US" dirty="0"/>
              <a:t> de </a:t>
            </a:r>
            <a:r>
              <a:rPr lang="en-US" dirty="0" err="1"/>
              <a:t>ecuatii</a:t>
            </a:r>
            <a:r>
              <a:rPr lang="en-US" dirty="0"/>
              <a:t>, </a:t>
            </a:r>
            <a:r>
              <a:rPr lang="en-US" dirty="0" err="1"/>
              <a:t>ecuatii</a:t>
            </a:r>
            <a:r>
              <a:rPr lang="en-US" dirty="0"/>
              <a:t> </a:t>
            </a:r>
            <a:r>
              <a:rPr lang="en-US" dirty="0" err="1"/>
              <a:t>diferentiale</a:t>
            </a:r>
            <a:r>
              <a:rPr lang="en-US" dirty="0"/>
              <a:t>, </a:t>
            </a:r>
            <a:r>
              <a:rPr lang="en-US" dirty="0" err="1"/>
              <a:t>integrale</a:t>
            </a:r>
            <a:r>
              <a:rPr lang="en-US" dirty="0"/>
              <a:t>, etc.</a:t>
            </a:r>
            <a:endParaRPr lang="ro-RO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843808" y="3140968"/>
            <a:ext cx="122413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580112" y="3212976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8DF514A-3DB7-4CB5-8797-DB5A76E006B1}"/>
              </a:ext>
            </a:extLst>
          </p:cNvPr>
          <p:cNvSpPr/>
          <p:nvPr/>
        </p:nvSpPr>
        <p:spPr bwMode="auto">
          <a:xfrm rot="19449108">
            <a:off x="3761297" y="4526115"/>
            <a:ext cx="2831580" cy="432048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 err="1">
                <a:latin typeface="Tahoma" pitchFamily="34" charset="0"/>
              </a:rPr>
              <a:t>Metode</a:t>
            </a:r>
            <a:r>
              <a:rPr lang="en-US" sz="2400" dirty="0">
                <a:latin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</a:rPr>
              <a:t>numerice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FDA89F4C-F675-41A2-8188-D87FDD1F9E26}"/>
              </a:ext>
            </a:extLst>
          </p:cNvPr>
          <p:cNvSpPr/>
          <p:nvPr/>
        </p:nvSpPr>
        <p:spPr bwMode="auto">
          <a:xfrm rot="3260134" flipH="1">
            <a:off x="5306639" y="3489742"/>
            <a:ext cx="330919" cy="2758836"/>
          </a:xfrm>
          <a:prstGeom prst="upArrow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75233112-10B5-4F54-AC79-C97CFC2CD431}"/>
              </a:ext>
            </a:extLst>
          </p:cNvPr>
          <p:cNvSpPr/>
          <p:nvPr/>
        </p:nvSpPr>
        <p:spPr bwMode="auto">
          <a:xfrm>
            <a:off x="6876256" y="4149080"/>
            <a:ext cx="576064" cy="792088"/>
          </a:xfrm>
          <a:prstGeom prst="downArrow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8826D0-F098-4914-95AB-22DE73E5392F}"/>
              </a:ext>
            </a:extLst>
          </p:cNvPr>
          <p:cNvSpPr/>
          <p:nvPr/>
        </p:nvSpPr>
        <p:spPr bwMode="auto">
          <a:xfrm>
            <a:off x="5950496" y="4954288"/>
            <a:ext cx="2736304" cy="79208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Solutii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aproximative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993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Istoric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4645026" y="5373216"/>
            <a:ext cx="4247454" cy="100811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1 + 24/60 + 51/60</a:t>
            </a:r>
            <a:r>
              <a:rPr lang="en-US" baseline="30000" dirty="0"/>
              <a:t>2</a:t>
            </a:r>
            <a:r>
              <a:rPr lang="en-US" dirty="0"/>
              <a:t> + 10/60</a:t>
            </a:r>
            <a:r>
              <a:rPr lang="en-US" baseline="30000" dirty="0"/>
              <a:t>3</a:t>
            </a:r>
            <a:r>
              <a:rPr lang="en-US" dirty="0"/>
              <a:t>= 1.41421296…</a:t>
            </a:r>
          </a:p>
          <a:p>
            <a:r>
              <a:rPr lang="en-US" baseline="30000" dirty="0">
                <a:hlinkClick r:id="rId2"/>
              </a:rPr>
              <a:t>http://en.wikipedia.org/wiki/Numerical_analysis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457200" y="1444294"/>
            <a:ext cx="4040188" cy="4865026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Metode</a:t>
            </a:r>
            <a:r>
              <a:rPr lang="en-US" dirty="0"/>
              <a:t> de </a:t>
            </a:r>
            <a:r>
              <a:rPr lang="en-US" dirty="0" err="1"/>
              <a:t>calcul</a:t>
            </a:r>
            <a:r>
              <a:rPr lang="en-US" dirty="0"/>
              <a:t> al </a:t>
            </a:r>
            <a:r>
              <a:rPr lang="en-US" dirty="0" err="1"/>
              <a:t>diferitelor</a:t>
            </a:r>
            <a:r>
              <a:rPr lang="en-US" dirty="0"/>
              <a:t> </a:t>
            </a:r>
            <a:r>
              <a:rPr lang="en-US" dirty="0" err="1"/>
              <a:t>numere</a:t>
            </a:r>
            <a:r>
              <a:rPr lang="en-US" dirty="0"/>
              <a:t> au </a:t>
            </a:r>
            <a:r>
              <a:rPr lang="en-US" dirty="0" err="1"/>
              <a:t>aparut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inainte</a:t>
            </a:r>
            <a:r>
              <a:rPr lang="en-US" dirty="0"/>
              <a:t> de </a:t>
            </a:r>
            <a:r>
              <a:rPr lang="en-US" dirty="0" err="1"/>
              <a:t>inventarea</a:t>
            </a:r>
            <a:r>
              <a:rPr lang="en-US" dirty="0"/>
              <a:t> </a:t>
            </a:r>
            <a:r>
              <a:rPr lang="en-US" dirty="0" err="1"/>
              <a:t>calculatoarelor</a:t>
            </a:r>
            <a:r>
              <a:rPr lang="en-US" dirty="0"/>
              <a:t>.</a:t>
            </a:r>
          </a:p>
          <a:p>
            <a:r>
              <a:rPr lang="en-US" dirty="0"/>
              <a:t>Inca din </a:t>
            </a:r>
            <a:r>
              <a:rPr lang="en-US" dirty="0" err="1"/>
              <a:t>vremuri</a:t>
            </a:r>
            <a:r>
              <a:rPr lang="en-US" dirty="0"/>
              <a:t> </a:t>
            </a:r>
            <a:r>
              <a:rPr lang="en-US" dirty="0" err="1"/>
              <a:t>stravechi</a:t>
            </a:r>
            <a:r>
              <a:rPr lang="en-US" dirty="0"/>
              <a:t> </a:t>
            </a:r>
            <a:r>
              <a:rPr lang="en-US" dirty="0" err="1"/>
              <a:t>omenirea</a:t>
            </a:r>
            <a:r>
              <a:rPr lang="en-US" dirty="0"/>
              <a:t> a </a:t>
            </a:r>
            <a:r>
              <a:rPr lang="en-US" dirty="0" err="1"/>
              <a:t>incercat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gaseasca</a:t>
            </a:r>
            <a:r>
              <a:rPr lang="en-US" dirty="0"/>
              <a:t> </a:t>
            </a:r>
            <a:r>
              <a:rPr lang="en-US" dirty="0" err="1"/>
              <a:t>solutii</a:t>
            </a:r>
            <a:r>
              <a:rPr lang="en-US" dirty="0"/>
              <a:t> </a:t>
            </a:r>
            <a:r>
              <a:rPr lang="en-US" dirty="0" err="1"/>
              <a:t>aproximative</a:t>
            </a:r>
            <a:r>
              <a:rPr lang="en-US" dirty="0"/>
              <a:t> cat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apropriate</a:t>
            </a:r>
            <a:r>
              <a:rPr lang="en-US" dirty="0"/>
              <a:t> de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exacte</a:t>
            </a:r>
            <a:r>
              <a:rPr lang="en-US" dirty="0"/>
              <a:t>.</a:t>
            </a:r>
          </a:p>
          <a:p>
            <a:r>
              <a:rPr lang="en-US" dirty="0"/>
              <a:t>Una din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vechi</a:t>
            </a:r>
            <a:r>
              <a:rPr lang="en-US" dirty="0"/>
              <a:t> </a:t>
            </a:r>
            <a:r>
              <a:rPr lang="en-US" dirty="0" err="1"/>
              <a:t>dovezi</a:t>
            </a:r>
            <a:r>
              <a:rPr lang="en-US" dirty="0"/>
              <a:t> 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descoperirea</a:t>
            </a:r>
            <a:r>
              <a:rPr lang="en-US" dirty="0"/>
              <a:t> </a:t>
            </a:r>
            <a:r>
              <a:rPr lang="en-US" dirty="0" err="1"/>
              <a:t>primelor</a:t>
            </a:r>
            <a:r>
              <a:rPr lang="en-US" dirty="0"/>
              <a:t> 6 </a:t>
            </a:r>
            <a:r>
              <a:rPr lang="en-US" dirty="0" err="1"/>
              <a:t>cifre</a:t>
            </a:r>
            <a:r>
              <a:rPr lang="en-US" dirty="0"/>
              <a:t> ale </a:t>
            </a:r>
            <a:r>
              <a:rPr lang="en-US" dirty="0" err="1"/>
              <a:t>numarului</a:t>
            </a:r>
            <a:r>
              <a:rPr lang="en-US" dirty="0"/>
              <a:t>             – tablita de </a:t>
            </a:r>
            <a:r>
              <a:rPr lang="en-US" dirty="0" err="1"/>
              <a:t>lut</a:t>
            </a:r>
            <a:r>
              <a:rPr lang="en-US" dirty="0"/>
              <a:t> </a:t>
            </a:r>
            <a:r>
              <a:rPr lang="en-US" dirty="0" err="1"/>
              <a:t>babiloniana</a:t>
            </a:r>
            <a:r>
              <a:rPr lang="en-US" dirty="0"/>
              <a:t>   (1800-1600 </a:t>
            </a:r>
            <a:r>
              <a:rPr lang="en-US" dirty="0" err="1"/>
              <a:t>iHr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pic>
        <p:nvPicPr>
          <p:cNvPr id="9" name="Content Placeholder 8" descr="Ybc7289-bw.jpg"/>
          <p:cNvPicPr>
            <a:picLocks noGrp="1" noChangeAspect="1"/>
          </p:cNvPicPr>
          <p:nvPr>
            <p:ph sz="quarter" idx="4"/>
          </p:nvPr>
        </p:nvPicPr>
        <p:blipFill>
          <a:blip r:embed="rId3" cstate="print"/>
          <a:stretch>
            <a:fillRect/>
          </a:stretch>
        </p:blipFill>
        <p:spPr>
          <a:xfrm>
            <a:off x="4718844" y="1340768"/>
            <a:ext cx="4041775" cy="3766743"/>
          </a:xfrm>
        </p:spPr>
      </p:pic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7505885"/>
              </p:ext>
            </p:extLst>
          </p:nvPr>
        </p:nvGraphicFramePr>
        <p:xfrm>
          <a:off x="3203848" y="4922219"/>
          <a:ext cx="504056" cy="450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091" imgH="215713" progId="Equation.3">
                  <p:embed/>
                </p:oleObj>
              </mc:Choice>
              <mc:Fallback>
                <p:oleObj name="Equation" r:id="rId4" imgW="241091" imgH="215713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4922219"/>
                        <a:ext cx="504056" cy="4509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Istoric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buNone/>
            </a:pPr>
            <a:endParaRPr lang="en-US" sz="1900" dirty="0"/>
          </a:p>
          <a:p>
            <a:r>
              <a:rPr lang="en-US" sz="1900" dirty="0"/>
              <a:t>Multi </a:t>
            </a:r>
            <a:r>
              <a:rPr lang="en-US" sz="1900" dirty="0" err="1"/>
              <a:t>mari</a:t>
            </a:r>
            <a:r>
              <a:rPr lang="en-US" sz="1900" dirty="0"/>
              <a:t> </a:t>
            </a:r>
            <a:r>
              <a:rPr lang="en-US" sz="1900" dirty="0" err="1"/>
              <a:t>matematicieni</a:t>
            </a:r>
            <a:r>
              <a:rPr lang="en-US" sz="1900" dirty="0"/>
              <a:t> s-au </a:t>
            </a:r>
            <a:r>
              <a:rPr lang="en-US" sz="1900" dirty="0" err="1"/>
              <a:t>ocupat</a:t>
            </a:r>
            <a:r>
              <a:rPr lang="en-US" sz="1900" dirty="0"/>
              <a:t> cu </a:t>
            </a:r>
            <a:r>
              <a:rPr lang="en-US" sz="1900" dirty="0" err="1"/>
              <a:t>rezolvarea</a:t>
            </a:r>
            <a:r>
              <a:rPr lang="en-US" sz="1900" dirty="0"/>
              <a:t> </a:t>
            </a:r>
            <a:r>
              <a:rPr lang="en-US" sz="1900" dirty="0" err="1"/>
              <a:t>unor</a:t>
            </a:r>
            <a:r>
              <a:rPr lang="en-US" sz="1900" dirty="0"/>
              <a:t> </a:t>
            </a:r>
            <a:r>
              <a:rPr lang="en-US" sz="1900" dirty="0" err="1"/>
              <a:t>probleme</a:t>
            </a:r>
            <a:r>
              <a:rPr lang="en-US" sz="1900" dirty="0"/>
              <a:t> </a:t>
            </a:r>
            <a:r>
              <a:rPr lang="en-US" sz="1900" dirty="0" err="1"/>
              <a:t>celebre</a:t>
            </a:r>
            <a:r>
              <a:rPr lang="en-US" sz="1900" dirty="0"/>
              <a:t> </a:t>
            </a:r>
            <a:r>
              <a:rPr lang="en-US" sz="1900" dirty="0" err="1"/>
              <a:t>contribuind</a:t>
            </a:r>
            <a:r>
              <a:rPr lang="en-US" sz="1900" dirty="0"/>
              <a:t> la </a:t>
            </a:r>
            <a:r>
              <a:rPr lang="en-US" sz="1900" dirty="0" err="1"/>
              <a:t>descoperirea</a:t>
            </a:r>
            <a:r>
              <a:rPr lang="en-US" sz="1900" dirty="0"/>
              <a:t> </a:t>
            </a:r>
            <a:r>
              <a:rPr lang="en-US" sz="1900" dirty="0" err="1"/>
              <a:t>si</a:t>
            </a:r>
            <a:r>
              <a:rPr lang="en-US" sz="1900" dirty="0"/>
              <a:t> </a:t>
            </a:r>
            <a:r>
              <a:rPr lang="en-US" sz="1900" dirty="0" err="1"/>
              <a:t>dezvoltarea</a:t>
            </a:r>
            <a:r>
              <a:rPr lang="en-US" sz="1900" dirty="0"/>
              <a:t> de </a:t>
            </a:r>
            <a:r>
              <a:rPr lang="en-US" sz="1900" dirty="0" err="1"/>
              <a:t>metode</a:t>
            </a:r>
            <a:r>
              <a:rPr lang="en-US" sz="1900" dirty="0"/>
              <a:t> </a:t>
            </a:r>
            <a:r>
              <a:rPr lang="en-US" sz="1900" dirty="0" err="1"/>
              <a:t>numerice</a:t>
            </a:r>
            <a:r>
              <a:rPr lang="en-US" sz="1900" dirty="0"/>
              <a:t>, </a:t>
            </a:r>
            <a:r>
              <a:rPr lang="en-US" sz="1900" dirty="0" err="1"/>
              <a:t>acest</a:t>
            </a:r>
            <a:r>
              <a:rPr lang="en-US" sz="1900" dirty="0"/>
              <a:t> </a:t>
            </a:r>
            <a:r>
              <a:rPr lang="en-US" sz="1900" dirty="0" err="1"/>
              <a:t>lucru</a:t>
            </a:r>
            <a:r>
              <a:rPr lang="en-US" sz="1900" dirty="0"/>
              <a:t> </a:t>
            </a:r>
            <a:r>
              <a:rPr lang="en-US" sz="1900" dirty="0" err="1"/>
              <a:t>fiind</a:t>
            </a:r>
            <a:r>
              <a:rPr lang="en-US" sz="1900" dirty="0"/>
              <a:t> </a:t>
            </a:r>
            <a:r>
              <a:rPr lang="en-US" sz="1900" dirty="0" err="1"/>
              <a:t>sugerat</a:t>
            </a:r>
            <a:r>
              <a:rPr lang="en-US" sz="1900" dirty="0"/>
              <a:t> </a:t>
            </a:r>
            <a:r>
              <a:rPr lang="en-US" sz="1900" dirty="0" err="1"/>
              <a:t>si</a:t>
            </a:r>
            <a:r>
              <a:rPr lang="en-US" sz="1900" dirty="0"/>
              <a:t> </a:t>
            </a:r>
            <a:r>
              <a:rPr lang="en-US" sz="1900" dirty="0" err="1"/>
              <a:t>prin</a:t>
            </a:r>
            <a:r>
              <a:rPr lang="en-US" sz="1900" dirty="0"/>
              <a:t> </a:t>
            </a:r>
            <a:r>
              <a:rPr lang="en-US" sz="1900" dirty="0" err="1"/>
              <a:t>numele</a:t>
            </a:r>
            <a:r>
              <a:rPr lang="en-US" sz="1900" dirty="0"/>
              <a:t> </a:t>
            </a:r>
            <a:r>
              <a:rPr lang="en-US" sz="1900" dirty="0" err="1"/>
              <a:t>multor</a:t>
            </a:r>
            <a:r>
              <a:rPr lang="en-US" sz="1900" dirty="0"/>
              <a:t> </a:t>
            </a:r>
            <a:r>
              <a:rPr lang="en-US" sz="1900" dirty="0" err="1"/>
              <a:t>algoritmi</a:t>
            </a:r>
            <a:r>
              <a:rPr lang="en-US" sz="1900" dirty="0"/>
              <a:t> din </a:t>
            </a:r>
            <a:r>
              <a:rPr lang="en-US" sz="1900" dirty="0" err="1"/>
              <a:t>analiza</a:t>
            </a:r>
            <a:r>
              <a:rPr lang="en-US" sz="1900" dirty="0"/>
              <a:t> </a:t>
            </a:r>
            <a:r>
              <a:rPr lang="en-US" sz="1900" dirty="0" err="1"/>
              <a:t>numerica</a:t>
            </a:r>
            <a:r>
              <a:rPr lang="en-US" sz="1900" dirty="0"/>
              <a:t>: </a:t>
            </a:r>
          </a:p>
          <a:p>
            <a:pPr lvl="1"/>
            <a:r>
              <a:rPr lang="en-US" sz="1900" dirty="0" err="1"/>
              <a:t>Metoda</a:t>
            </a:r>
            <a:r>
              <a:rPr lang="en-US" sz="1900" dirty="0"/>
              <a:t> </a:t>
            </a:r>
            <a:r>
              <a:rPr lang="en-US" sz="1900" dirty="0" err="1"/>
              <a:t>lui</a:t>
            </a:r>
            <a:r>
              <a:rPr lang="en-US" sz="1900" dirty="0"/>
              <a:t> Newton – </a:t>
            </a:r>
            <a:r>
              <a:rPr lang="en-US" sz="1900" dirty="0" err="1"/>
              <a:t>pt</a:t>
            </a:r>
            <a:r>
              <a:rPr lang="en-US" sz="1900" dirty="0"/>
              <a:t> </a:t>
            </a:r>
            <a:r>
              <a:rPr lang="en-US" sz="1900" dirty="0" err="1"/>
              <a:t>gasirea</a:t>
            </a:r>
            <a:r>
              <a:rPr lang="en-US" sz="1900" dirty="0"/>
              <a:t> rad </a:t>
            </a:r>
            <a:r>
              <a:rPr lang="en-US" sz="1900" dirty="0" err="1"/>
              <a:t>unei</a:t>
            </a:r>
            <a:r>
              <a:rPr lang="en-US" sz="1900" dirty="0"/>
              <a:t> </a:t>
            </a:r>
            <a:r>
              <a:rPr lang="en-US" sz="1900" dirty="0" err="1"/>
              <a:t>functii</a:t>
            </a:r>
            <a:r>
              <a:rPr lang="en-US" sz="1900" dirty="0"/>
              <a:t> f(x)=0 </a:t>
            </a:r>
          </a:p>
          <a:p>
            <a:pPr marL="457200" lvl="1" indent="0">
              <a:buNone/>
            </a:pPr>
            <a:r>
              <a:rPr lang="en-US" sz="1900" dirty="0">
                <a:solidFill>
                  <a:srgbClr val="FF0000"/>
                </a:solidFill>
              </a:rPr>
              <a:t>      Newton (1642-1726)</a:t>
            </a:r>
          </a:p>
          <a:p>
            <a:pPr lvl="1"/>
            <a:r>
              <a:rPr lang="en-US" sz="1900" dirty="0" err="1"/>
              <a:t>Polinoamele</a:t>
            </a:r>
            <a:r>
              <a:rPr lang="en-US" sz="1900" dirty="0"/>
              <a:t> de </a:t>
            </a:r>
            <a:r>
              <a:rPr lang="en-US" sz="1900" dirty="0" err="1"/>
              <a:t>interpolare</a:t>
            </a:r>
            <a:r>
              <a:rPr lang="en-US" sz="1900" dirty="0"/>
              <a:t> </a:t>
            </a:r>
            <a:r>
              <a:rPr lang="en-US" sz="1900" dirty="0">
                <a:solidFill>
                  <a:srgbClr val="FF0000"/>
                </a:solidFill>
              </a:rPr>
              <a:t>Lagrange (1736-1813)</a:t>
            </a:r>
          </a:p>
          <a:p>
            <a:pPr lvl="1"/>
            <a:r>
              <a:rPr lang="en-US" sz="1900" dirty="0" err="1"/>
              <a:t>metoda</a:t>
            </a:r>
            <a:r>
              <a:rPr lang="en-US" sz="1900" dirty="0"/>
              <a:t> </a:t>
            </a:r>
            <a:r>
              <a:rPr lang="en-US" sz="1900" dirty="0" err="1"/>
              <a:t>lui</a:t>
            </a:r>
            <a:r>
              <a:rPr lang="en-US" sz="1900" dirty="0"/>
              <a:t> Euler – </a:t>
            </a:r>
            <a:r>
              <a:rPr lang="en-US" sz="1900" dirty="0" err="1"/>
              <a:t>pt</a:t>
            </a:r>
            <a:r>
              <a:rPr lang="en-US" sz="1900" dirty="0"/>
              <a:t> </a:t>
            </a:r>
            <a:r>
              <a:rPr lang="en-US" sz="1900" dirty="0" err="1"/>
              <a:t>rezolvarea</a:t>
            </a:r>
            <a:r>
              <a:rPr lang="en-US" sz="1900" dirty="0"/>
              <a:t> </a:t>
            </a:r>
            <a:r>
              <a:rPr lang="en-US" sz="1900" dirty="0" err="1"/>
              <a:t>ecuatiilor</a:t>
            </a:r>
            <a:r>
              <a:rPr lang="en-US" sz="1900" dirty="0"/>
              <a:t> </a:t>
            </a:r>
            <a:r>
              <a:rPr lang="en-US" sz="1900" dirty="0" err="1"/>
              <a:t>diferentiale</a:t>
            </a:r>
            <a:r>
              <a:rPr lang="en-US" sz="1900" dirty="0"/>
              <a:t> </a:t>
            </a:r>
            <a:r>
              <a:rPr lang="en-US" sz="1900" dirty="0" err="1"/>
              <a:t>ordinale</a:t>
            </a:r>
            <a:r>
              <a:rPr lang="en-US" sz="1900" dirty="0"/>
              <a:t>; </a:t>
            </a:r>
            <a:r>
              <a:rPr lang="en-US" sz="1900" dirty="0">
                <a:solidFill>
                  <a:srgbClr val="FF0000"/>
                </a:solidFill>
              </a:rPr>
              <a:t>Euler(1707-1783)</a:t>
            </a:r>
          </a:p>
          <a:p>
            <a:pPr lvl="1"/>
            <a:r>
              <a:rPr lang="en-US" sz="1900" dirty="0" err="1"/>
              <a:t>Metoda</a:t>
            </a:r>
            <a:r>
              <a:rPr lang="en-US" sz="1900" dirty="0"/>
              <a:t> </a:t>
            </a:r>
            <a:r>
              <a:rPr lang="en-US" sz="1900" dirty="0" err="1"/>
              <a:t>eliminarii</a:t>
            </a:r>
            <a:r>
              <a:rPr lang="en-US" sz="1900" dirty="0"/>
              <a:t> a </a:t>
            </a:r>
            <a:r>
              <a:rPr lang="en-US" sz="1900" dirty="0" err="1"/>
              <a:t>lui</a:t>
            </a:r>
            <a:r>
              <a:rPr lang="en-US" sz="1900" dirty="0"/>
              <a:t> Gauss – </a:t>
            </a:r>
            <a:r>
              <a:rPr lang="en-US" sz="1900" dirty="0" err="1"/>
              <a:t>rezolvarea</a:t>
            </a:r>
            <a:r>
              <a:rPr lang="en-US" sz="1900" dirty="0"/>
              <a:t> </a:t>
            </a:r>
            <a:r>
              <a:rPr lang="en-US" sz="1900" dirty="0" err="1"/>
              <a:t>unui</a:t>
            </a:r>
            <a:r>
              <a:rPr lang="en-US" sz="1900" dirty="0"/>
              <a:t> sist de </a:t>
            </a:r>
            <a:r>
              <a:rPr lang="en-US" sz="1900" dirty="0" err="1"/>
              <a:t>ecuatii</a:t>
            </a:r>
            <a:r>
              <a:rPr lang="en-US" sz="1900" dirty="0"/>
              <a:t> </a:t>
            </a:r>
            <a:r>
              <a:rPr lang="en-US" sz="1900" dirty="0" err="1"/>
              <a:t>liniare</a:t>
            </a:r>
            <a:r>
              <a:rPr lang="en-US" sz="1900" dirty="0"/>
              <a:t>; </a:t>
            </a:r>
            <a:r>
              <a:rPr lang="en-US" sz="1900" dirty="0">
                <a:solidFill>
                  <a:srgbClr val="FF0000"/>
                </a:solidFill>
              </a:rPr>
              <a:t>Gauss(1777-1855)</a:t>
            </a:r>
          </a:p>
          <a:p>
            <a:r>
              <a:rPr lang="en-US" sz="1900" dirty="0" err="1"/>
              <a:t>Metodele</a:t>
            </a:r>
            <a:r>
              <a:rPr lang="en-US" sz="1900" dirty="0"/>
              <a:t> </a:t>
            </a:r>
            <a:r>
              <a:rPr lang="en-US" sz="1900" dirty="0" err="1"/>
              <a:t>numerice</a:t>
            </a:r>
            <a:r>
              <a:rPr lang="en-US" sz="1900" dirty="0"/>
              <a:t> s-au </a:t>
            </a:r>
            <a:r>
              <a:rPr lang="en-US" sz="1900" dirty="0" err="1"/>
              <a:t>dezvoltat</a:t>
            </a:r>
            <a:r>
              <a:rPr lang="en-US" sz="1900" dirty="0"/>
              <a:t> f </a:t>
            </a:r>
            <a:r>
              <a:rPr lang="en-US" sz="1900" dirty="0" err="1"/>
              <a:t>mult</a:t>
            </a:r>
            <a:r>
              <a:rPr lang="en-US" sz="1900" dirty="0"/>
              <a:t> in </a:t>
            </a:r>
            <a:r>
              <a:rPr lang="en-US" sz="1900" dirty="0" err="1"/>
              <a:t>ultimii</a:t>
            </a:r>
            <a:r>
              <a:rPr lang="en-US" sz="1900" dirty="0"/>
              <a:t> ani, </a:t>
            </a:r>
            <a:r>
              <a:rPr lang="en-US" sz="1900" dirty="0" err="1"/>
              <a:t>odata</a:t>
            </a:r>
            <a:r>
              <a:rPr lang="en-US" sz="1900" dirty="0"/>
              <a:t> cu </a:t>
            </a:r>
            <a:r>
              <a:rPr lang="en-US" sz="1900" dirty="0" err="1"/>
              <a:t>dezvoltarea</a:t>
            </a:r>
            <a:r>
              <a:rPr lang="en-US" sz="1900" dirty="0"/>
              <a:t> </a:t>
            </a:r>
            <a:r>
              <a:rPr lang="en-US" sz="1900" dirty="0" err="1"/>
              <a:t>tehnicii</a:t>
            </a:r>
            <a:r>
              <a:rPr lang="en-US" sz="1900" dirty="0"/>
              <a:t> de </a:t>
            </a:r>
            <a:r>
              <a:rPr lang="en-US" sz="1900" dirty="0" err="1"/>
              <a:t>calcul</a:t>
            </a:r>
            <a:r>
              <a:rPr lang="en-US" sz="1900" dirty="0"/>
              <a:t>.</a:t>
            </a:r>
          </a:p>
          <a:p>
            <a:pPr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Calculele</a:t>
            </a:r>
            <a:r>
              <a:rPr lang="en-US" dirty="0"/>
              <a:t> </a:t>
            </a:r>
            <a:r>
              <a:rPr lang="en-US" dirty="0" err="1"/>
              <a:t>numerice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Calculele</a:t>
            </a:r>
            <a:r>
              <a:rPr lang="en-US" dirty="0"/>
              <a:t> </a:t>
            </a:r>
            <a:r>
              <a:rPr lang="en-US" dirty="0" err="1"/>
              <a:t>erau</a:t>
            </a:r>
            <a:r>
              <a:rPr lang="en-US" dirty="0"/>
              <a:t> </a:t>
            </a:r>
            <a:r>
              <a:rPr lang="en-US" dirty="0" err="1"/>
              <a:t>facute</a:t>
            </a:r>
            <a:r>
              <a:rPr lang="en-US" dirty="0"/>
              <a:t> de mana </a:t>
            </a:r>
          </a:p>
          <a:p>
            <a:r>
              <a:rPr lang="en-US" dirty="0" err="1"/>
              <a:t>Abacul</a:t>
            </a:r>
            <a:r>
              <a:rPr lang="en-US" dirty="0"/>
              <a:t> – </a:t>
            </a:r>
            <a:r>
              <a:rPr lang="en-US" dirty="0" err="1"/>
              <a:t>inca</a:t>
            </a:r>
            <a:r>
              <a:rPr lang="en-US" dirty="0"/>
              <a:t> din </a:t>
            </a:r>
            <a:r>
              <a:rPr lang="en-US" dirty="0" err="1"/>
              <a:t>antichitate</a:t>
            </a:r>
            <a:r>
              <a:rPr lang="en-US" dirty="0"/>
              <a:t> –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r>
              <a:rPr lang="en-US" dirty="0" err="1"/>
              <a:t>calcule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4" name="Content Placeholder 3" descr="abac chinezesc&#10;&#10;Description generated with high confidence">
            <a:extLst>
              <a:ext uri="{FF2B5EF4-FFF2-40B4-BE49-F238E27FC236}">
                <a16:creationId xmlns:a16="http://schemas.microsoft.com/office/drawing/2014/main" id="{08FAA762-4C89-4D20-9575-DB824AC44F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1587080"/>
            <a:ext cx="3137615" cy="1841920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4157726-AE99-43EB-B9CA-94B65C5DAB0B}"/>
              </a:ext>
            </a:extLst>
          </p:cNvPr>
          <p:cNvSpPr/>
          <p:nvPr/>
        </p:nvSpPr>
        <p:spPr>
          <a:xfrm>
            <a:off x="4418383" y="4077072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By </a:t>
            </a:r>
            <a:r>
              <a:rPr lang="en-US" dirty="0" err="1"/>
              <a:t>Encyclopædia</a:t>
            </a:r>
            <a:r>
              <a:rPr lang="en-US" dirty="0"/>
              <a:t> Britannica - Article for "abacus", 9th edition Encyclopedia Britannica, volume 1 (1875); scanned and uploaded by Malcolm </a:t>
            </a:r>
            <a:r>
              <a:rPr lang="en-US" dirty="0" err="1"/>
              <a:t>FarmerTransferred</a:t>
            </a:r>
            <a:r>
              <a:rPr lang="en-US" dirty="0"/>
              <a:t> from </a:t>
            </a:r>
            <a:r>
              <a:rPr lang="en-US" dirty="0" err="1"/>
              <a:t>en.wikipedia</a:t>
            </a:r>
            <a:r>
              <a:rPr lang="en-US" dirty="0"/>
              <a:t> to Commons., Public Domain, https://commons.wikimedia.org/w/index.php?curid=146649</a:t>
            </a:r>
          </a:p>
        </p:txBody>
      </p:sp>
      <p:pic>
        <p:nvPicPr>
          <p:cNvPr id="10" name="Picture 9" descr="A circuit board&#10;&#10;Description generated with very high confidence">
            <a:extLst>
              <a:ext uri="{FF2B5EF4-FFF2-40B4-BE49-F238E27FC236}">
                <a16:creationId xmlns:a16="http://schemas.microsoft.com/office/drawing/2014/main" id="{3910846F-49D4-493C-BA02-8A3F7A47F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68" y="3829690"/>
            <a:ext cx="2897478" cy="23083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BE6961-65BD-46E3-91B3-3EA8F44975B6}"/>
              </a:ext>
            </a:extLst>
          </p:cNvPr>
          <p:cNvSpPr txBox="1"/>
          <p:nvPr/>
        </p:nvSpPr>
        <p:spPr>
          <a:xfrm>
            <a:off x="5796136" y="3645024"/>
            <a:ext cx="234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Abac</a:t>
            </a:r>
            <a:r>
              <a:rPr lang="en-US" dirty="0"/>
              <a:t> </a:t>
            </a:r>
            <a:r>
              <a:rPr lang="en-US" dirty="0" err="1"/>
              <a:t>chinezesc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D76387-EFED-427A-8C93-78193096BDE0}"/>
              </a:ext>
            </a:extLst>
          </p:cNvPr>
          <p:cNvSpPr txBox="1"/>
          <p:nvPr/>
        </p:nvSpPr>
        <p:spPr>
          <a:xfrm>
            <a:off x="1115616" y="6385396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Abac</a:t>
            </a:r>
            <a:r>
              <a:rPr lang="en-US" dirty="0"/>
              <a:t> roman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91490" y="365125"/>
            <a:ext cx="3840085" cy="16927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dirty="0" err="1"/>
              <a:t>Calculatorul</a:t>
            </a:r>
            <a:r>
              <a:rPr lang="en-US" dirty="0"/>
              <a:t> </a:t>
            </a:r>
            <a:r>
              <a:rPr lang="en-US" dirty="0" err="1"/>
              <a:t>mecanic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490" y="2316480"/>
            <a:ext cx="3429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491490" y="2575034"/>
            <a:ext cx="3840085" cy="346222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</a:pPr>
            <a:r>
              <a:rPr lang="en-US" sz="1600" dirty="0" err="1"/>
              <a:t>Calculatorul</a:t>
            </a:r>
            <a:r>
              <a:rPr lang="en-US" sz="1600" dirty="0"/>
              <a:t> </a:t>
            </a:r>
            <a:r>
              <a:rPr lang="en-US" sz="1600" dirty="0" err="1"/>
              <a:t>mecanic</a:t>
            </a:r>
            <a:r>
              <a:rPr lang="en-US" sz="1600" dirty="0"/>
              <a:t> a </a:t>
            </a:r>
            <a:r>
              <a:rPr lang="en-US" sz="1600" dirty="0" err="1"/>
              <a:t>aparut</a:t>
            </a:r>
            <a:r>
              <a:rPr lang="en-US" sz="1600" dirty="0"/>
              <a:t> ca o </a:t>
            </a:r>
            <a:r>
              <a:rPr lang="en-US" sz="1600" dirty="0" err="1"/>
              <a:t>necesitate</a:t>
            </a:r>
            <a:r>
              <a:rPr lang="en-US" sz="1600" dirty="0"/>
              <a:t> in prima </a:t>
            </a:r>
            <a:r>
              <a:rPr lang="en-US" sz="1600" dirty="0" err="1"/>
              <a:t>jumatate</a:t>
            </a:r>
            <a:r>
              <a:rPr lang="en-US" sz="1600" dirty="0"/>
              <a:t> a </a:t>
            </a:r>
            <a:r>
              <a:rPr lang="en-US" sz="1600" dirty="0" err="1"/>
              <a:t>secolului</a:t>
            </a:r>
            <a:r>
              <a:rPr lang="en-US" sz="1600" dirty="0"/>
              <a:t> al XVII-lea.  Pana </a:t>
            </a:r>
            <a:r>
              <a:rPr lang="en-US" sz="1600" dirty="0" err="1"/>
              <a:t>atunci</a:t>
            </a:r>
            <a:r>
              <a:rPr lang="en-US" sz="1600" dirty="0"/>
              <a:t> </a:t>
            </a:r>
            <a:r>
              <a:rPr lang="en-US" sz="1600" dirty="0" err="1"/>
              <a:t>calculele</a:t>
            </a:r>
            <a:r>
              <a:rPr lang="en-US" sz="1600" dirty="0"/>
              <a:t> </a:t>
            </a:r>
            <a:r>
              <a:rPr lang="en-US" sz="1600" dirty="0" err="1"/>
              <a:t>erau</a:t>
            </a:r>
            <a:r>
              <a:rPr lang="en-US" sz="1600" dirty="0"/>
              <a:t> </a:t>
            </a:r>
            <a:r>
              <a:rPr lang="en-US" sz="1600" dirty="0" err="1"/>
              <a:t>efectuate</a:t>
            </a:r>
            <a:r>
              <a:rPr lang="en-US" sz="1600" dirty="0"/>
              <a:t> de mana.</a:t>
            </a:r>
          </a:p>
          <a:p>
            <a:pPr indent="-228600">
              <a:lnSpc>
                <a:spcPct val="90000"/>
              </a:lnSpc>
            </a:pPr>
            <a:r>
              <a:rPr lang="en-US" sz="1600" dirty="0" err="1"/>
              <a:t>Cele</a:t>
            </a:r>
            <a:r>
              <a:rPr lang="en-US" sz="1600" dirty="0"/>
              <a:t> din </a:t>
            </a:r>
            <a:r>
              <a:rPr lang="en-US" sz="1600" dirty="0" err="1"/>
              <a:t>imag</a:t>
            </a:r>
            <a:r>
              <a:rPr lang="en-US" sz="1600" dirty="0"/>
              <a:t> sunt din 1851 </a:t>
            </a:r>
            <a:r>
              <a:rPr lang="en-US" sz="1600" dirty="0" err="1"/>
              <a:t>sau</a:t>
            </a:r>
            <a:r>
              <a:rPr lang="en-US" sz="1600" dirty="0"/>
              <a:t> </a:t>
            </a:r>
            <a:r>
              <a:rPr lang="en-US" sz="1600" dirty="0" err="1"/>
              <a:t>mai</a:t>
            </a:r>
            <a:r>
              <a:rPr lang="en-US" sz="1600" dirty="0"/>
              <a:t> </a:t>
            </a:r>
            <a:r>
              <a:rPr lang="en-US" sz="1600" dirty="0" err="1"/>
              <a:t>tarziu</a:t>
            </a:r>
            <a:r>
              <a:rPr lang="en-US" sz="1600" dirty="0"/>
              <a:t>.</a:t>
            </a:r>
          </a:p>
          <a:p>
            <a:pPr lvl="4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Aritmometru</a:t>
            </a:r>
            <a:endParaRPr lang="en-US" sz="1600" dirty="0"/>
          </a:p>
          <a:p>
            <a:pPr lvl="4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Computometru</a:t>
            </a:r>
            <a:endParaRPr lang="en-US" sz="1600" dirty="0"/>
          </a:p>
          <a:p>
            <a:pPr lvl="4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Masina</a:t>
            </a:r>
            <a:r>
              <a:rPr lang="en-US" sz="1600" dirty="0"/>
              <a:t> de </a:t>
            </a:r>
            <a:r>
              <a:rPr lang="en-US" sz="1600" dirty="0" err="1"/>
              <a:t>socotit</a:t>
            </a:r>
            <a:r>
              <a:rPr lang="en-US" sz="1600" dirty="0"/>
              <a:t> Dalton</a:t>
            </a:r>
          </a:p>
          <a:p>
            <a:pPr lvl="4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Masina</a:t>
            </a:r>
            <a:r>
              <a:rPr lang="en-US" sz="1600" dirty="0"/>
              <a:t> Sundstrand</a:t>
            </a:r>
          </a:p>
          <a:p>
            <a:pPr lvl="4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Aritmometru</a:t>
            </a:r>
            <a:r>
              <a:rPr lang="en-US" sz="1600" dirty="0"/>
              <a:t> </a:t>
            </a:r>
            <a:r>
              <a:rPr lang="en-US" sz="1600" dirty="0" err="1"/>
              <a:t>Odhner</a:t>
            </a:r>
            <a:endParaRPr lang="en-US" sz="1600" dirty="0"/>
          </a:p>
          <a:p>
            <a:pPr indent="-228600">
              <a:lnSpc>
                <a:spcPct val="90000"/>
              </a:lnSpc>
            </a:pPr>
            <a:endParaRPr lang="en-US" sz="1600" dirty="0"/>
          </a:p>
        </p:txBody>
      </p:sp>
      <p:pic>
        <p:nvPicPr>
          <p:cNvPr id="9" name="Content Placeholder 8" descr="Mechanical_calculators_Keyboards.png"/>
          <p:cNvPicPr>
            <a:picLocks noGrp="1" noChangeAspect="1"/>
          </p:cNvPicPr>
          <p:nvPr>
            <p:ph sz="half" idx="2"/>
          </p:nvPr>
        </p:nvPicPr>
        <p:blipFill rotWithShape="1">
          <a:blip r:embed="rId3" cstate="print"/>
          <a:srcRect l="8248" r="14394"/>
          <a:stretch/>
        </p:blipFill>
        <p:spPr>
          <a:xfrm>
            <a:off x="4409136" y="10"/>
            <a:ext cx="4734863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FB3762D-4C31-4FF1-BA24-FFF0B149B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Operatiile</a:t>
            </a:r>
            <a:r>
              <a:rPr lang="en-US" dirty="0"/>
              <a:t> cu un </a:t>
            </a:r>
            <a:r>
              <a:rPr lang="en-US" dirty="0" err="1"/>
              <a:t>aritmometru</a:t>
            </a:r>
            <a:endParaRPr lang="en-US" dirty="0"/>
          </a:p>
        </p:txBody>
      </p:sp>
      <p:pic>
        <p:nvPicPr>
          <p:cNvPr id="10" name="Online Media 9">
            <a:hlinkClick r:id="" action="ppaction://media"/>
            <a:extLst>
              <a:ext uri="{FF2B5EF4-FFF2-40B4-BE49-F238E27FC236}">
                <a16:creationId xmlns:a16="http://schemas.microsoft.com/office/drawing/2014/main" id="{B3699C0B-562D-4C60-8700-6589D8F185B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27584" y="1322766"/>
            <a:ext cx="7200800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4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91490" y="365125"/>
            <a:ext cx="3840085" cy="16927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490" y="2316480"/>
            <a:ext cx="3429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91490" y="2575034"/>
            <a:ext cx="3840085" cy="346222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</a:pPr>
            <a:r>
              <a:rPr lang="en-US" sz="1600" dirty="0"/>
              <a:t>Cand nu </a:t>
            </a:r>
            <a:r>
              <a:rPr lang="en-US" sz="1600" dirty="0" err="1"/>
              <a:t>existau</a:t>
            </a:r>
            <a:r>
              <a:rPr lang="en-US" sz="1600" dirty="0"/>
              <a:t> </a:t>
            </a:r>
            <a:r>
              <a:rPr lang="en-US" sz="1600" dirty="0" err="1"/>
              <a:t>computerele</a:t>
            </a:r>
            <a:r>
              <a:rPr lang="en-US" sz="1600" dirty="0"/>
              <a:t>, </a:t>
            </a:r>
            <a:r>
              <a:rPr lang="en-US" sz="1600" dirty="0" err="1"/>
              <a:t>efectuarea</a:t>
            </a:r>
            <a:r>
              <a:rPr lang="en-US" sz="1600" dirty="0"/>
              <a:t> </a:t>
            </a:r>
            <a:r>
              <a:rPr lang="en-US" sz="1600" dirty="0" err="1"/>
              <a:t>calculelor</a:t>
            </a:r>
            <a:r>
              <a:rPr lang="en-US" sz="1600" dirty="0"/>
              <a:t> se </a:t>
            </a:r>
            <a:r>
              <a:rPr lang="en-US" sz="1600" dirty="0" err="1"/>
              <a:t>facea</a:t>
            </a:r>
            <a:r>
              <a:rPr lang="en-US" sz="1600" dirty="0"/>
              <a:t> de mana  </a:t>
            </a:r>
            <a:r>
              <a:rPr lang="en-US" sz="1600" dirty="0" err="1"/>
              <a:t>sau</a:t>
            </a:r>
            <a:r>
              <a:rPr lang="en-US" sz="1600" dirty="0"/>
              <a:t> cu </a:t>
            </a:r>
            <a:r>
              <a:rPr lang="en-US" sz="1600" dirty="0" err="1"/>
              <a:t>ajutorul</a:t>
            </a:r>
            <a:r>
              <a:rPr lang="en-US" sz="1600" dirty="0"/>
              <a:t> </a:t>
            </a:r>
            <a:r>
              <a:rPr lang="en-US" sz="1600" dirty="0" err="1"/>
              <a:t>calculatoarelor</a:t>
            </a:r>
            <a:r>
              <a:rPr lang="en-US" sz="1600" dirty="0"/>
              <a:t> </a:t>
            </a:r>
            <a:r>
              <a:rPr lang="en-US" sz="1600" dirty="0" err="1"/>
              <a:t>mecanice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existau</a:t>
            </a:r>
            <a:r>
              <a:rPr lang="en-US" sz="1600" dirty="0"/>
              <a:t> </a:t>
            </a:r>
            <a:r>
              <a:rPr lang="en-US" sz="1600" dirty="0" err="1"/>
              <a:t>carti</a:t>
            </a:r>
            <a:r>
              <a:rPr lang="en-US" sz="1600" dirty="0"/>
              <a:t> cu </a:t>
            </a:r>
            <a:r>
              <a:rPr lang="en-US" sz="1600" dirty="0" err="1"/>
              <a:t>formule</a:t>
            </a:r>
            <a:r>
              <a:rPr lang="en-US" sz="1600" dirty="0"/>
              <a:t> de </a:t>
            </a:r>
            <a:r>
              <a:rPr lang="en-US" sz="1600" dirty="0" err="1"/>
              <a:t>calcul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tabele</a:t>
            </a:r>
            <a:r>
              <a:rPr lang="en-US" sz="1600" dirty="0"/>
              <a:t> cu </a:t>
            </a:r>
            <a:r>
              <a:rPr lang="en-US" sz="1600" dirty="0" err="1"/>
              <a:t>coeficienti</a:t>
            </a:r>
            <a:r>
              <a:rPr lang="en-US" sz="1600" dirty="0"/>
              <a:t> </a:t>
            </a:r>
            <a:r>
              <a:rPr lang="en-US" sz="1600" dirty="0" err="1"/>
              <a:t>sau</a:t>
            </a:r>
            <a:r>
              <a:rPr lang="en-US" sz="1600" dirty="0"/>
              <a:t> </a:t>
            </a:r>
            <a:r>
              <a:rPr lang="en-US" sz="1600" dirty="0" err="1"/>
              <a:t>valori</a:t>
            </a:r>
            <a:r>
              <a:rPr lang="en-US" sz="1600" dirty="0"/>
              <a:t> ale </a:t>
            </a:r>
            <a:r>
              <a:rPr lang="en-US" sz="1600" dirty="0" err="1"/>
              <a:t>unor</a:t>
            </a:r>
            <a:r>
              <a:rPr lang="en-US" sz="1600" dirty="0"/>
              <a:t> </a:t>
            </a:r>
            <a:r>
              <a:rPr lang="en-US" sz="1600" dirty="0" err="1"/>
              <a:t>functii</a:t>
            </a:r>
            <a:r>
              <a:rPr lang="en-US" sz="1600" dirty="0"/>
              <a:t> calculate </a:t>
            </a:r>
            <a:r>
              <a:rPr lang="en-US" sz="1600" dirty="0" err="1"/>
              <a:t>pentru</a:t>
            </a:r>
            <a:r>
              <a:rPr lang="en-US" sz="1600" dirty="0"/>
              <a:t> </a:t>
            </a:r>
            <a:r>
              <a:rPr lang="en-US" sz="1600" dirty="0" err="1"/>
              <a:t>multe</a:t>
            </a:r>
            <a:r>
              <a:rPr lang="en-US" sz="1600" dirty="0"/>
              <a:t> </a:t>
            </a:r>
            <a:r>
              <a:rPr lang="en-US" sz="1600" dirty="0" err="1"/>
              <a:t>valori</a:t>
            </a:r>
            <a:r>
              <a:rPr lang="en-US" sz="1600" dirty="0"/>
              <a:t>, de </a:t>
            </a:r>
            <a:r>
              <a:rPr lang="en-US" sz="1600" dirty="0" err="1"/>
              <a:t>obicei</a:t>
            </a:r>
            <a:r>
              <a:rPr lang="en-US" sz="1600" dirty="0"/>
              <a:t> cu </a:t>
            </a:r>
            <a:r>
              <a:rPr lang="en-US" sz="1600" dirty="0" err="1"/>
              <a:t>valori</a:t>
            </a:r>
            <a:r>
              <a:rPr lang="en-US" sz="1600" dirty="0"/>
              <a:t> </a:t>
            </a:r>
            <a:r>
              <a:rPr lang="en-US" sz="1600" dirty="0" err="1"/>
              <a:t>aproximative</a:t>
            </a:r>
            <a:r>
              <a:rPr lang="en-US" sz="1600" dirty="0"/>
              <a:t> calculate cu 16 </a:t>
            </a:r>
            <a:r>
              <a:rPr lang="en-US" sz="1600" dirty="0" err="1"/>
              <a:t>zecimale</a:t>
            </a:r>
            <a:r>
              <a:rPr lang="en-US" sz="1600" dirty="0"/>
              <a:t>.</a:t>
            </a:r>
          </a:p>
          <a:p>
            <a:pPr indent="-228600">
              <a:lnSpc>
                <a:spcPct val="90000"/>
              </a:lnSpc>
            </a:pPr>
            <a:endParaRPr lang="en-US" sz="1600" dirty="0"/>
          </a:p>
          <a:p>
            <a:pPr indent="-228600">
              <a:lnSpc>
                <a:spcPct val="90000"/>
              </a:lnSpc>
            </a:pPr>
            <a:r>
              <a:rPr lang="en-US" sz="1600" dirty="0"/>
              <a:t>Abramowitz, </a:t>
            </a:r>
            <a:r>
              <a:rPr lang="en-US" sz="1600" dirty="0" err="1"/>
              <a:t>Stegun</a:t>
            </a:r>
            <a:r>
              <a:rPr lang="en-US" sz="1600" dirty="0"/>
              <a:t>, - </a:t>
            </a:r>
            <a:r>
              <a:rPr lang="en-US" sz="1600" i="1" dirty="0"/>
              <a:t>Handbook of Mathematical Functions</a:t>
            </a:r>
            <a:r>
              <a:rPr lang="en-US" sz="1600" dirty="0"/>
              <a:t> - </a:t>
            </a:r>
            <a:r>
              <a:rPr lang="en-US" sz="1600" dirty="0" err="1"/>
              <a:t>peste</a:t>
            </a:r>
            <a:r>
              <a:rPr lang="en-US" sz="1600" dirty="0"/>
              <a:t> 1000 de </a:t>
            </a:r>
            <a:r>
              <a:rPr lang="en-US" sz="1600" dirty="0" err="1"/>
              <a:t>pagini</a:t>
            </a:r>
            <a:r>
              <a:rPr lang="en-US" sz="1600" dirty="0"/>
              <a:t>, 1964</a:t>
            </a:r>
          </a:p>
        </p:txBody>
      </p:sp>
      <p:pic>
        <p:nvPicPr>
          <p:cNvPr id="6" name="Content Placeholder 5" descr="800px-Abramowitz&amp;Stegun.page97.agr.jpg"/>
          <p:cNvPicPr>
            <a:picLocks noGrp="1" noChangeAspect="1"/>
          </p:cNvPicPr>
          <p:nvPr>
            <p:ph sz="half" idx="2"/>
          </p:nvPr>
        </p:nvPicPr>
        <p:blipFill rotWithShape="1">
          <a:blip r:embed="rId3" cstate="print"/>
          <a:srcRect l="30640" r="23792" b="-1"/>
          <a:stretch/>
        </p:blipFill>
        <p:spPr>
          <a:xfrm>
            <a:off x="4372050" y="13"/>
            <a:ext cx="4734863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7" name="Rectangle 6"/>
          <p:cNvSpPr/>
          <p:nvPr/>
        </p:nvSpPr>
        <p:spPr>
          <a:xfrm>
            <a:off x="4283968" y="4826675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"Abramowitz&amp;Stegun.page97.agr" by </a:t>
            </a:r>
            <a:r>
              <a:rPr lang="en-US" dirty="0" err="1"/>
              <a:t>agr</a:t>
            </a:r>
            <a:r>
              <a:rPr lang="en-US" dirty="0"/>
              <a:t> - Self-photographed. Licensed under CC BY 2.5 via Wikimedia Commons - http://commons.wikimedia.org/wiki/File:Abramowitz%26Stegun.page97.agr.jpg#mediaviewer/File:Abramowitz%26Stegun.page97.agr.jpg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83968" y="42930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067E22-9A18-41C9-AA9B-FBB8089CD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 descr="A close up of a newspaper&#10;&#10;Description generated with high confidence">
            <a:extLst>
              <a:ext uri="{FF2B5EF4-FFF2-40B4-BE49-F238E27FC236}">
                <a16:creationId xmlns:a16="http://schemas.microsoft.com/office/drawing/2014/main" id="{5B88288B-83C0-4991-B3C3-4BB0FC4894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9194"/>
            <a:ext cx="6482680" cy="10346422"/>
          </a:xfrm>
        </p:spPr>
      </p:pic>
    </p:spTree>
    <p:extLst>
      <p:ext uri="{BB962C8B-B14F-4D97-AF65-F5344CB8AC3E}">
        <p14:creationId xmlns:p14="http://schemas.microsoft.com/office/powerpoint/2010/main" val="85800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Exemple</a:t>
            </a:r>
            <a:r>
              <a:rPr lang="en-US" dirty="0"/>
              <a:t> de </a:t>
            </a:r>
            <a:r>
              <a:rPr lang="en-US" dirty="0" err="1"/>
              <a:t>aplicatii</a:t>
            </a:r>
            <a:r>
              <a:rPr lang="en-US" dirty="0"/>
              <a:t> ale </a:t>
            </a:r>
            <a:r>
              <a:rPr lang="en-US" dirty="0" err="1"/>
              <a:t>metodelor</a:t>
            </a:r>
            <a:r>
              <a:rPr lang="en-US" dirty="0"/>
              <a:t> </a:t>
            </a:r>
            <a:r>
              <a:rPr lang="en-US" dirty="0" err="1"/>
              <a:t>numerice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Inventarea</a:t>
            </a:r>
            <a:r>
              <a:rPr lang="en-US" dirty="0"/>
              <a:t> </a:t>
            </a:r>
            <a:r>
              <a:rPr lang="en-US" dirty="0" err="1"/>
              <a:t>calculatoarelor</a:t>
            </a:r>
            <a:r>
              <a:rPr lang="en-US" dirty="0"/>
              <a:t> a </a:t>
            </a:r>
            <a:r>
              <a:rPr lang="en-US" dirty="0" err="1"/>
              <a:t>influentat</a:t>
            </a:r>
            <a:r>
              <a:rPr lang="en-US" dirty="0"/>
              <a:t> </a:t>
            </a:r>
            <a:r>
              <a:rPr lang="en-US" dirty="0" err="1"/>
              <a:t>dezvoltarea</a:t>
            </a:r>
            <a:r>
              <a:rPr lang="en-US" dirty="0"/>
              <a:t> </a:t>
            </a:r>
            <a:r>
              <a:rPr lang="en-US" dirty="0" err="1"/>
              <a:t>metodelor</a:t>
            </a:r>
            <a:r>
              <a:rPr lang="en-US" dirty="0"/>
              <a:t> </a:t>
            </a:r>
            <a:r>
              <a:rPr lang="en-US" dirty="0" err="1"/>
              <a:t>numerice</a:t>
            </a:r>
            <a:r>
              <a:rPr lang="en-US" dirty="0"/>
              <a:t>.</a:t>
            </a:r>
          </a:p>
          <a:p>
            <a:pPr lvl="2"/>
            <a:r>
              <a:rPr lang="en-US" dirty="0" err="1"/>
              <a:t>Meteorologie</a:t>
            </a:r>
            <a:r>
              <a:rPr lang="en-US" dirty="0"/>
              <a:t>: </a:t>
            </a:r>
            <a:r>
              <a:rPr lang="en-US" dirty="0" err="1"/>
              <a:t>estimari</a:t>
            </a:r>
            <a:r>
              <a:rPr lang="en-US" dirty="0"/>
              <a:t> ale </a:t>
            </a:r>
            <a:r>
              <a:rPr lang="en-US" dirty="0" err="1"/>
              <a:t>starii</a:t>
            </a:r>
            <a:r>
              <a:rPr lang="en-US" dirty="0"/>
              <a:t> </a:t>
            </a:r>
            <a:r>
              <a:rPr lang="en-US" dirty="0" err="1"/>
              <a:t>vremii</a:t>
            </a:r>
            <a:endParaRPr lang="en-US" dirty="0"/>
          </a:p>
          <a:p>
            <a:pPr lvl="2"/>
            <a:r>
              <a:rPr lang="en-US" dirty="0" err="1"/>
              <a:t>Determinarea</a:t>
            </a:r>
            <a:r>
              <a:rPr lang="en-US" dirty="0"/>
              <a:t> </a:t>
            </a:r>
            <a:r>
              <a:rPr lang="en-US" dirty="0" err="1"/>
              <a:t>traiectoriei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rachete</a:t>
            </a:r>
            <a:r>
              <a:rPr lang="en-US" dirty="0"/>
              <a:t> (</a:t>
            </a:r>
            <a:r>
              <a:rPr lang="en-US" dirty="0" err="1"/>
              <a:t>rezolvare</a:t>
            </a:r>
            <a:r>
              <a:rPr lang="en-US" dirty="0"/>
              <a:t> </a:t>
            </a:r>
            <a:r>
              <a:rPr lang="en-US" dirty="0" err="1"/>
              <a:t>numerica</a:t>
            </a:r>
            <a:r>
              <a:rPr lang="en-US" dirty="0"/>
              <a:t> ale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ecuatii</a:t>
            </a:r>
            <a:r>
              <a:rPr lang="en-US" dirty="0"/>
              <a:t> </a:t>
            </a:r>
            <a:r>
              <a:rPr lang="en-US" dirty="0" err="1"/>
              <a:t>diferentiale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Calculul</a:t>
            </a:r>
            <a:r>
              <a:rPr lang="en-US" dirty="0"/>
              <a:t> </a:t>
            </a:r>
            <a:r>
              <a:rPr lang="en-US" dirty="0" err="1"/>
              <a:t>valorilor</a:t>
            </a:r>
            <a:r>
              <a:rPr lang="en-US" dirty="0"/>
              <a:t> </a:t>
            </a:r>
            <a:r>
              <a:rPr lang="en-US" dirty="0" err="1"/>
              <a:t>fondurilor</a:t>
            </a:r>
            <a:r>
              <a:rPr lang="en-US" dirty="0"/>
              <a:t> de </a:t>
            </a:r>
            <a:r>
              <a:rPr lang="en-US" dirty="0" err="1"/>
              <a:t>investitii</a:t>
            </a:r>
            <a:r>
              <a:rPr lang="en-US" dirty="0"/>
              <a:t>  </a:t>
            </a:r>
          </a:p>
          <a:p>
            <a:pPr lvl="2"/>
            <a:r>
              <a:rPr lang="en-US" dirty="0" err="1"/>
              <a:t>Estimarea</a:t>
            </a:r>
            <a:r>
              <a:rPr lang="en-US" dirty="0"/>
              <a:t> </a:t>
            </a:r>
            <a:r>
              <a:rPr lang="en-US" dirty="0" err="1"/>
              <a:t>riscului</a:t>
            </a:r>
            <a:r>
              <a:rPr lang="en-US" dirty="0"/>
              <a:t> </a:t>
            </a:r>
            <a:r>
              <a:rPr lang="en-US" dirty="0" err="1"/>
              <a:t>financiar</a:t>
            </a:r>
            <a:r>
              <a:rPr lang="en-US" dirty="0"/>
              <a:t> al </a:t>
            </a:r>
            <a:r>
              <a:rPr lang="en-US" dirty="0" err="1"/>
              <a:t>unui</a:t>
            </a:r>
            <a:r>
              <a:rPr lang="en-US" dirty="0"/>
              <a:t> credit</a:t>
            </a:r>
          </a:p>
          <a:p>
            <a:pPr lvl="2"/>
            <a:r>
              <a:rPr lang="en-US" dirty="0" err="1"/>
              <a:t>Algoritmi</a:t>
            </a:r>
            <a:r>
              <a:rPr lang="en-US" dirty="0"/>
              <a:t> de </a:t>
            </a:r>
            <a:r>
              <a:rPr lang="en-US" dirty="0" err="1"/>
              <a:t>optimizare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stabilirea</a:t>
            </a:r>
            <a:r>
              <a:rPr lang="en-US" dirty="0"/>
              <a:t> </a:t>
            </a:r>
            <a:r>
              <a:rPr lang="en-US" dirty="0" err="1"/>
              <a:t>rutelor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avion</a:t>
            </a:r>
            <a:r>
              <a:rPr lang="en-US" dirty="0"/>
              <a:t>, a </a:t>
            </a:r>
            <a:r>
              <a:rPr lang="en-US" dirty="0" err="1"/>
              <a:t>necesarului</a:t>
            </a:r>
            <a:r>
              <a:rPr lang="en-US" dirty="0"/>
              <a:t> de </a:t>
            </a:r>
            <a:r>
              <a:rPr lang="en-US" dirty="0" err="1"/>
              <a:t>combustibil</a:t>
            </a:r>
            <a:r>
              <a:rPr lang="en-US" dirty="0"/>
              <a:t>, etc.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204FF-D7A1-4326-8C51-83F37C4C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5BF43-9755-4E66-96C5-12668B22D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sqrt(2) cu 10 </a:t>
            </a:r>
            <a:r>
              <a:rPr lang="en-US" dirty="0" err="1"/>
              <a:t>milioane</a:t>
            </a:r>
            <a:r>
              <a:rPr lang="en-US" dirty="0"/>
              <a:t> de </a:t>
            </a:r>
            <a:r>
              <a:rPr lang="en-US" dirty="0" err="1"/>
              <a:t>cifre</a:t>
            </a:r>
            <a:endParaRPr lang="en-US" dirty="0"/>
          </a:p>
          <a:p>
            <a:r>
              <a:rPr lang="en-US" dirty="0">
                <a:hlinkClick r:id="rId3"/>
              </a:rPr>
              <a:t>https://apod.nasa.gov/htmltest/gifcity/sqrt2.1mil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8627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B3F26F71CC9C4B9C5BAA8F22FC422D" ma:contentTypeVersion="13" ma:contentTypeDescription="Create a new document." ma:contentTypeScope="" ma:versionID="343efe5fbb76845df5ee188cd0854df5">
  <xsd:schema xmlns:xsd="http://www.w3.org/2001/XMLSchema" xmlns:xs="http://www.w3.org/2001/XMLSchema" xmlns:p="http://schemas.microsoft.com/office/2006/metadata/properties" xmlns:ns2="bab8f944-c9d2-4579-9137-a662e7652227" xmlns:ns3="2356c4c8-dd7d-4294-96c2-3057ce6adf50" targetNamespace="http://schemas.microsoft.com/office/2006/metadata/properties" ma:root="true" ma:fieldsID="8e6c0bebd8edaf1695413ff9d5536fad" ns2:_="" ns3:_="">
    <xsd:import namespace="bab8f944-c9d2-4579-9137-a662e7652227"/>
    <xsd:import namespace="2356c4c8-dd7d-4294-96c2-3057ce6adf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aurerDragos_x002d_Andrei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8f944-c9d2-4579-9137-a662e76522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fd59429c-2ec5-47d9-ac23-ecd773c5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aurerDragos_x002d_Andrei" ma:index="19" nillable="true" ma:displayName="Maurer Dragos-Andrei" ma:format="Dropdown" ma:list="UserInfo" ma:SharePointGroup="0" ma:internalName="MaurerDragos_x002d_Andrei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56c4c8-dd7d-4294-96c2-3057ce6adf50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80b43d3b-4930-44cb-91c1-cb4f489fca46}" ma:internalName="TaxCatchAll" ma:showField="CatchAllData" ma:web="2356c4c8-dd7d-4294-96c2-3057ce6adf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356c4c8-dd7d-4294-96c2-3057ce6adf50" xsi:nil="true"/>
    <lcf76f155ced4ddcb4097134ff3c332f xmlns="bab8f944-c9d2-4579-9137-a662e7652227">
      <Terms xmlns="http://schemas.microsoft.com/office/infopath/2007/PartnerControls"/>
    </lcf76f155ced4ddcb4097134ff3c332f>
    <MaurerDragos_x002d_Andrei xmlns="bab8f944-c9d2-4579-9137-a662e7652227">
      <UserInfo>
        <DisplayName/>
        <AccountId xsi:nil="true"/>
        <AccountType/>
      </UserInfo>
    </MaurerDragos_x002d_Andrei>
  </documentManagement>
</p:properties>
</file>

<file path=customXml/itemProps1.xml><?xml version="1.0" encoding="utf-8"?>
<ds:datastoreItem xmlns:ds="http://schemas.openxmlformats.org/officeDocument/2006/customXml" ds:itemID="{9F6BE382-1F45-4AF1-A31F-41CEB23F7C50}"/>
</file>

<file path=customXml/itemProps2.xml><?xml version="1.0" encoding="utf-8"?>
<ds:datastoreItem xmlns:ds="http://schemas.openxmlformats.org/officeDocument/2006/customXml" ds:itemID="{111B8777-5329-4C14-95A5-BC536F911E1A}"/>
</file>

<file path=customXml/itemProps3.xml><?xml version="1.0" encoding="utf-8"?>
<ds:datastoreItem xmlns:ds="http://schemas.openxmlformats.org/officeDocument/2006/customXml" ds:itemID="{52BD2FEA-C348-45A0-A287-5A5FC9CE417F}"/>
</file>

<file path=docProps/app.xml><?xml version="1.0" encoding="utf-8"?>
<Properties xmlns="http://schemas.openxmlformats.org/officeDocument/2006/extended-properties" xmlns:vt="http://schemas.openxmlformats.org/officeDocument/2006/docPropsVTypes">
  <TotalTime>1531</TotalTime>
  <Words>1291</Words>
  <Application>Microsoft Office PowerPoint</Application>
  <PresentationFormat>On-screen Show (4:3)</PresentationFormat>
  <Paragraphs>149</Paragraphs>
  <Slides>18</Slides>
  <Notes>8</Notes>
  <HiddenSlides>0</HiddenSlides>
  <MMClips>1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Lucida Sans Unicode</vt:lpstr>
      <vt:lpstr>Roboto</vt:lpstr>
      <vt:lpstr>Tahoma</vt:lpstr>
      <vt:lpstr>TimesNewRoman</vt:lpstr>
      <vt:lpstr>Wingdings 3</vt:lpstr>
      <vt:lpstr>Office Theme</vt:lpstr>
      <vt:lpstr>Equation</vt:lpstr>
      <vt:lpstr>CALCUL NUMERIC</vt:lpstr>
      <vt:lpstr>Evaluarea studentilor</vt:lpstr>
      <vt:lpstr>Continutul cursului </vt:lpstr>
      <vt:lpstr>Continutul laboratorului</vt:lpstr>
      <vt:lpstr>Variante open source - Matlab</vt:lpstr>
      <vt:lpstr>BIBLIOGRAFIE RECOMANDATA</vt:lpstr>
      <vt:lpstr>Introducere</vt:lpstr>
      <vt:lpstr>Introducere</vt:lpstr>
      <vt:lpstr>PowerPoint Presentation</vt:lpstr>
      <vt:lpstr>Istoric</vt:lpstr>
      <vt:lpstr>Istoric</vt:lpstr>
      <vt:lpstr>Calculele numerice</vt:lpstr>
      <vt:lpstr>Calculatorul mecanic</vt:lpstr>
      <vt:lpstr>Operatiile cu un aritmometru</vt:lpstr>
      <vt:lpstr>PowerPoint Presentation</vt:lpstr>
      <vt:lpstr>PowerPoint Presentation</vt:lpstr>
      <vt:lpstr>Exemple de aplicatii ale metodelor numerice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 NUMERIC</dc:title>
  <dc:creator>DANIELA</dc:creator>
  <cp:lastModifiedBy>Daniela Joita</cp:lastModifiedBy>
  <cp:revision>23</cp:revision>
  <dcterms:created xsi:type="dcterms:W3CDTF">2020-02-15T17:01:07Z</dcterms:created>
  <dcterms:modified xsi:type="dcterms:W3CDTF">2026-03-29T11:26:29Z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0x01010019B3F26F71CC9C4B9C5BAA8F22FC422D</vt:lpwstr>
  </property>
</Properties>
</file>